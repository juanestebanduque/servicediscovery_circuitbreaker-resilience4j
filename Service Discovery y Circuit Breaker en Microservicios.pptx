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embeddedFontLst>
    <p:embeddedFont>
      <p:font typeface="JetBrains Mono" panose="02000009000000000000" pitchFamily="49" charset="0"/>
      <p:regular r:id="rId21"/>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font" Target="fonts/font1.fntdata"/><Relationship Id="rId2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el taller en dos partes: primero cómo los servicios se encuentran entre sí usando Eureka (Service Discovery), y después cómo protegemos al catálogo de los fallos del servicio de cursos usando el patrón Circuit Breaker con Resilience4j.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tres proyectos Spring Boot 3.3 con Spring Cloud 2023. El servidor Eureka es el registro central. El servicio de cursos expone los datos (base H2 en memoria con tres cursos de ejemplo). El catálogo es el consumidor: no conoce la dirección del servicio de cursos, se la pide a Eureka por su nombre lógico y luego hace la llamada HTTP directa.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Puntos clave para explicar: (1) el nombre lógico sale de spring.application.name; (2) el cliente consulta su copia local del registro, por eso tras arrancar el servicio de cursos hay que esperar unos 30 segundos; (3) si hay varias instancias, getNextServerFromEureka las va alternando (balanceo round-robin simple); (4) Eureka solo resuelve la dirección, la llamada HTTP va directa del catálogo al servicio de cursos.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 izquierda: el servicio de cursos se registra con el nombre fx-course-service en el Eureka que corre en el puerto 8761; el propio servidor Eureka no se registra a sí mismo ni descarga el registro. A la derecha: el catálogo busca exactamente ese nombre. El segundo parámetro false indica que queremos la URL HTTP, no HTTPS. getHomePageUrl devuelve algo como http://localhost:8001/ y le concatenamos /courses. Luego RestTemplate hace la llamada HTTP directa.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Captura del panel de Eureka. En la tabla “Instances currently registered with Eureka” aparecen los dos clientes con estado UP y su host:nombre:puerto. El servidor Eureka no aparece porque está configurado para no registrarse a sí mismo. En la demo en vivo, abrir localhost:8761 y mostrar esta misma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endpoints del catálogo funcionan sin ninguna URL fija: cada uno pregunta a Eureka por fx-course-service y llama al endpoint correspondiente. /catalog devuelve los tres cursos que carga el DataLoader en la base H2; /firstcourse convierte el JSON del curso 1 en un objeto Course y muestra su nombre.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la Parte 2, si detenemos el servicio de cursos, /catalog devuelve un error 500 con una ResourceAccessException o un "No matches for the virtual host name" de Eureka. Peor aún: si el servicio estuviera lento en vez de caído, cada petición bloquearía un hilo de Tomcat. El Circuit Breaker resuelve exactamente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CLOSED es el estado normal. Resilience4j guarda el resultado de las últimas 10 llamadas; cuando hay al menos 5 y la mitad o más fallaron, el circuito se abre. En OPEN ni siquiera intenta llamar al servicio de cursos: lanza CallNotPermittedException y responde el fallback al instante. Pasados 5 segundos pasa solo a HALF_OPEN y deja pasar 3 llamadas de prueba: si la tasa de fallos de esas 3 queda por debajo del 50 % se cierra; si no, vuelve a abrirse otros 5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Agregamos tres dependencias solo al catálogo, que es quien consume al otro servicio: el starter de Resilience4j de Spring Cloud, AOP (que permite que la anotación intercepte el método del controlador) y Actuator (que expone el estado del circuito en /actuator/health). Las propiedades son exactamente las del taller; el nombre de la instancia, courseService, es el que luego usa la anotación. Con estos valores: se miran las últimas 10 llamadas, a partir de 5 se calcula la tasa de fallos, con 50 % o más se abre, permanece abierto 5 segundos, pasa solo a semiabierto y ahí prueba con 3 llamadas.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Código simplificado de /catalog: en el proyecto la URL se arma en dos líneas, igual que en el código original del profesor. La anotación crea un proxy alrededor del método: cada llamada pasa por el circuit breaker, que registra si terminó bien o lanzó excepción. Cuando falla, o cuando el circuito está abierto, se invoca el método de fallback, que debe tener el mismo tipo de retorno y los mismos parámetros más una Exception. Como los tres endpoints usan la misma instancia courseService, el circuito refleja la salud del servicio de cursos en conjunto.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paso 5 opcional de la guía. La clase registra un Customizer que cambia la configuración por defecto de Resilience4JCircuitBreakerFactory, la fábrica que usa Spring Cloud cuando se crea un circuit breaker por código (circuitBreakerFactory.create("id").run(...)). La instancia courseService de la anotación toma sus valores de application.properties, que es lo que se ve en las capturas de Actuator: umbral 50 %, ventana de 10 y 5 segundos en OPEN. Si preguntan, la diferencia es: propiedades = configuración por nombre de instancia; Customizer = configuración por defecto programática.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Izquierda: estado normal. El circuito courseService está CLOSED; ya pasaron 6 llamadas por él, ninguna falló, y la tasa de fallos es 0 %. Derecha: después de detener el servicio de cursos, la raíz del catálogo responde con fallbackGetCatalogHome. Lo mismo ocurre en /catalog y /firstcourse, cada uno con su mensaje.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Arriba: el circuito está OPEN. Las 3 llamadas registradas fallaron (tasa 100 %, por encima del umbral de 50 %); en este punto, el circuito ya había pasado por HALF_OPEN y las 3 llamadas de prueba fallaron, por eso volvió a abrirse. Notar que el componente circuitBreakers aparece como UNKNOWN y courseService como CIRCUIT_OPEN, pero el estado global del servicio sigue UP: el catálogo sigue funcionando, solo su dependencia está caída. Abajo: pasados los 5 segundos, la transición automática lo deja en HALF_OPEN con los contadores reiniciados; las siguientes 3 llamadas deciden si se cierra o vuelve a abrirse.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 beneficios para la rúbrica: aislamiento del fallo (no hay cascada), fail-fast (no se consumen hilos esperando), protección del servicio caído para que pueda recuperarse, degradación elegante con fallback, recuperación automática gracias al estado HALF_OPEN y observabilidad con Actuator. Resilience4j es una librería ligera, modular y funcional: cada patrón (CircuitBreaker, Retry, RateLimiter, Bulkhead, TimeLimiter) es un módulo independiente que se puede combinar.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78562"/>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320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30402"/>
            <a:ext cx="10566400" cy="4114798"/>
          </a:xfrm>
          <a:prstGeom prst="rect">
            <a:avLst/>
          </a:prstGeom>
          <a:noFill/>
          <a:ln/>
        </p:spPr>
        <p:txBody>
          <a:bodyPr wrap="square" lIns="0" tIns="0" rIns="0" bIns="0" rtlCol="0" anchor="t"/>
          <a:lstStyle>
            <a:lvl1pPr algn="l" indent="0" marL="0">
              <a:lnSpc>
                <a:spcPct val="140000"/>
              </a:lnSpc>
              <a:buNone/>
              <a:defRPr lang="en-US" sz="1600" dirty="0">
                <a:solidFill>
                  <a:srgbClr val="1320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78562"/>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320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30402"/>
            <a:ext cx="10566400" cy="4114798"/>
          </a:xfrm>
          <a:prstGeom prst="rect">
            <a:avLst/>
          </a:prstGeom>
          <a:noFill/>
          <a:ln/>
        </p:spPr>
        <p:txBody>
          <a:bodyPr wrap="square" lIns="0" tIns="0" rIns="0" bIns="0" rtlCol="0" anchor="t"/>
          <a:lstStyle>
            <a:lvl1pPr algn="l" indent="0" marL="0">
              <a:lnSpc>
                <a:spcPct val="140000"/>
              </a:lnSpc>
              <a:buNone/>
              <a:defRPr lang="en-US" sz="1600" dirty="0">
                <a:solidFill>
                  <a:srgbClr val="1320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0A35E"/>
                </a:solidFill>
                <a:latin typeface="JetBrains Mono" pitchFamily="49" charset="0"/>
                <a:ea typeface="JetBrains Mono" pitchFamily="49" charset="-122"/>
                <a:cs typeface="JetBrains Mono" pitchFamily="49" charset="-120"/>
              </a:rPr>
              <a:t>TALLER · PATRONES DE ARQUITECTURA DE MICROSERVICIOS</a:t>
            </a:r>
            <a:endParaRPr lang="en-US" sz="1400" dirty="0"/>
          </a:p>
        </p:txBody>
      </p:sp>
      <p:sp>
        <p:nvSpPr>
          <p:cNvPr id="3" name="Text 1"/>
          <p:cNvSpPr/>
          <p:nvPr>
            <p:ph type="title"/>
          </p:nvPr>
        </p:nvSpPr>
        <p:spPr>
          <a:xfrm>
            <a:off x="812800" y="2319020"/>
            <a:ext cx="10883392" cy="15189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4F2EC"/>
                </a:solidFill>
                <a:latin typeface="IBM Plex Sans" pitchFamily="34" charset="0"/>
                <a:ea typeface="IBM Plex Sans" pitchFamily="34" charset="-122"/>
                <a:cs typeface="IBM Plex Sans" pitchFamily="34" charset="-120"/>
              </a:rPr>
              <a:t>Service Discovery</a:t>
            </a:r>
            <a:endParaRPr lang="en-US" sz="5600" dirty="0"/>
          </a:p>
          <a:p>
            <a:pPr algn="l" indent="0" marL="0">
              <a:lnSpc>
                <a:spcPts val="5880"/>
              </a:lnSpc>
              <a:buNone/>
            </a:pPr>
            <a:r>
              <a:rPr lang="en-US" sz="5600" b="1" i="0" dirty="0">
                <a:solidFill>
                  <a:srgbClr val="F4F2EC"/>
                </a:solidFill>
                <a:latin typeface="IBM Plex Sans" pitchFamily="34" charset="0"/>
                <a:ea typeface="IBM Plex Sans" pitchFamily="34" charset="-122"/>
                <a:cs typeface="IBM Plex Sans" pitchFamily="34" charset="-120"/>
              </a:rPr>
              <a:t>y Circuit Breaker</a:t>
            </a:r>
            <a:endParaRPr lang="en-US" sz="5600" dirty="0"/>
          </a:p>
        </p:txBody>
      </p:sp>
      <p:sp>
        <p:nvSpPr>
          <p:cNvPr id="4" name="Text 2"/>
          <p:cNvSpPr/>
          <p:nvPr/>
        </p:nvSpPr>
        <p:spPr>
          <a:xfrm>
            <a:off x="812800" y="4066540"/>
            <a:ext cx="10883392"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9C4CE"/>
                </a:solidFill>
                <a:latin typeface="IBM Plex Sans" pitchFamily="34" charset="0"/>
                <a:ea typeface="IBM Plex Sans" pitchFamily="34" charset="-122"/>
                <a:cs typeface="IBM Plex Sans" pitchFamily="34" charset="-120"/>
              </a:rPr>
              <a:t>Eureka + Resilience4j sobre los servicios FutureX</a:t>
            </a:r>
            <a:endParaRPr lang="en-US" sz="2000" dirty="0"/>
          </a:p>
        </p:txBody>
      </p:sp>
      <p:sp>
        <p:nvSpPr>
          <p:cNvPr id="5" name="Text 3"/>
          <p:cNvSpPr/>
          <p:nvPr/>
        </p:nvSpPr>
        <p:spPr>
          <a:xfrm>
            <a:off x="812800" y="5666740"/>
            <a:ext cx="2755900" cy="378460"/>
          </a:xfrm>
          <a:prstGeom prst="roundRect">
            <a:avLst>
              <a:gd name="adj" fmla="val 13423"/>
            </a:avLst>
          </a:prstGeom>
          <a:solidFill>
            <a:srgbClr val="F0A35E"/>
          </a:solidFill>
          <a:ln/>
        </p:spPr>
        <p:txBody>
          <a:bodyPr wrap="none" lIns="0" tIns="48621" rIns="0" bIns="23221" rtlCol="0" anchor="t">
            <a:normAutofit/>
          </a:bodyPr>
          <a:lstStyle/>
          <a:p>
            <a:pPr algn="ctr" indent="0" marL="0">
              <a:lnSpc>
                <a:spcPts val="1820"/>
              </a:lnSpc>
              <a:buNone/>
            </a:pPr>
            <a:r>
              <a:rPr lang="en-US" sz="1300" dirty="0">
                <a:solidFill>
                  <a:srgbClr val="13202B"/>
                </a:solidFill>
                <a:latin typeface="JetBrains Mono" pitchFamily="49" charset="0"/>
                <a:ea typeface="JetBrains Mono" pitchFamily="49" charset="-122"/>
                <a:cs typeface="JetBrains Mono" pitchFamily="49" charset="-120"/>
              </a:rPr>
              <a:t>fx-discovery-server :8761</a:t>
            </a:r>
            <a:endParaRPr lang="en-US" sz="1300" dirty="0"/>
          </a:p>
        </p:txBody>
      </p:sp>
      <p:sp>
        <p:nvSpPr>
          <p:cNvPr id="6" name="Text 4"/>
          <p:cNvSpPr/>
          <p:nvPr/>
        </p:nvSpPr>
        <p:spPr>
          <a:xfrm>
            <a:off x="3727450" y="5673090"/>
            <a:ext cx="2565400" cy="365760"/>
          </a:xfrm>
          <a:prstGeom prst="roundRect">
            <a:avLst>
              <a:gd name="adj" fmla="val 12153"/>
            </a:avLst>
          </a:prstGeom>
          <a:noFill/>
          <a:ln w="12700">
            <a:solidFill>
              <a:srgbClr val="4D6275"/>
            </a:solidFill>
            <a:prstDash val="solid"/>
          </a:ln>
        </p:spPr>
        <p:txBody>
          <a:bodyPr wrap="none" lIns="0" tIns="0" rIns="0" bIns="0" rtlCol="0" anchor="ctr">
            <a:normAutofit/>
          </a:bodyPr>
          <a:lstStyle/>
          <a:p>
            <a:pPr algn="ctr" indent="0" marL="0">
              <a:lnSpc>
                <a:spcPts val="1820"/>
              </a:lnSpc>
              <a:buNone/>
            </a:pPr>
            <a:r>
              <a:rPr lang="en-US" sz="1300" dirty="0">
                <a:solidFill>
                  <a:srgbClr val="F4F2EC"/>
                </a:solidFill>
                <a:latin typeface="JetBrains Mono" pitchFamily="49" charset="0"/>
                <a:ea typeface="JetBrains Mono" pitchFamily="49" charset="-122"/>
                <a:cs typeface="JetBrains Mono" pitchFamily="49" charset="-120"/>
              </a:rPr>
              <a:t>fx-course-service :8001</a:t>
            </a:r>
            <a:endParaRPr lang="en-US" sz="1300" dirty="0"/>
          </a:p>
        </p:txBody>
      </p:sp>
      <p:sp>
        <p:nvSpPr>
          <p:cNvPr id="7" name="Text 5"/>
          <p:cNvSpPr/>
          <p:nvPr/>
        </p:nvSpPr>
        <p:spPr>
          <a:xfrm>
            <a:off x="6457950" y="5673090"/>
            <a:ext cx="2664460" cy="365760"/>
          </a:xfrm>
          <a:prstGeom prst="roundRect">
            <a:avLst>
              <a:gd name="adj" fmla="val 12153"/>
            </a:avLst>
          </a:prstGeom>
          <a:noFill/>
          <a:ln w="12700">
            <a:solidFill>
              <a:srgbClr val="4D6275"/>
            </a:solidFill>
            <a:prstDash val="solid"/>
          </a:ln>
        </p:spPr>
        <p:txBody>
          <a:bodyPr wrap="none" lIns="0" tIns="0" rIns="0" bIns="0" rtlCol="0" anchor="ctr">
            <a:normAutofit/>
          </a:bodyPr>
          <a:lstStyle/>
          <a:p>
            <a:pPr algn="ctr" indent="0" marL="0">
              <a:lnSpc>
                <a:spcPts val="1820"/>
              </a:lnSpc>
              <a:buNone/>
            </a:pPr>
            <a:r>
              <a:rPr lang="en-US" sz="1300" dirty="0">
                <a:solidFill>
                  <a:srgbClr val="F4F2EC"/>
                </a:solidFill>
                <a:latin typeface="JetBrains Mono" pitchFamily="49" charset="0"/>
                <a:ea typeface="JetBrains Mono" pitchFamily="49" charset="-122"/>
                <a:cs typeface="JetBrains Mono" pitchFamily="49" charset="-120"/>
              </a:rPr>
              <a:t>fx-catalog-service :8002</a:t>
            </a:r>
            <a:endParaRPr lang="en-US" sz="1300" dirty="0"/>
          </a:p>
        </p:txBody>
      </p:sp>
      <p:sp>
        <p:nvSpPr>
          <p:cNvPr id="8" name="Text 6"/>
          <p:cNvSpPr/>
          <p:nvPr/>
        </p:nvSpPr>
        <p:spPr>
          <a:xfrm>
            <a:off x="844550" y="4724400"/>
            <a:ext cx="523240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AF9F5"/>
                </a:solidFill>
                <a:latin typeface="IBM Plex Sans" pitchFamily="34" charset="0"/>
                <a:ea typeface="IBM Plex Sans" pitchFamily="34" charset="-122"/>
                <a:cs typeface="IBM Plex Sans" pitchFamily="34" charset="-120"/>
              </a:rPr>
              <a:t>Juan Duque</a:t>
            </a:r>
            <a:endParaRPr lang="en-US" sz="1500" dirty="0"/>
          </a:p>
          <a:p>
            <a:pPr algn="l" indent="0" marL="0">
              <a:lnSpc>
                <a:spcPts val="2100"/>
              </a:lnSpc>
              <a:buNone/>
            </a:pPr>
            <a:r>
              <a:rPr lang="en-US" sz="1500" dirty="0">
                <a:solidFill>
                  <a:srgbClr val="FAF9F5"/>
                </a:solidFill>
                <a:latin typeface="IBM Plex Sans" pitchFamily="34" charset="0"/>
                <a:ea typeface="IBM Plex Sans" pitchFamily="34" charset="-122"/>
                <a:cs typeface="IBM Plex Sans" pitchFamily="34" charset="-120"/>
              </a:rPr>
              <a:t>Juan Pablo Ordoñez</a:t>
            </a:r>
            <a:endParaRPr lang="en-US" sz="1500" dirty="0"/>
          </a:p>
          <a:p>
            <a:pPr algn="l" indent="0" marL="0">
              <a:lnSpc>
                <a:spcPts val="2100"/>
              </a:lnSpc>
              <a:buNone/>
            </a:pPr>
            <a:r>
              <a:rPr lang="en-US" sz="1500" dirty="0">
                <a:solidFill>
                  <a:srgbClr val="FAF9F5"/>
                </a:solidFill>
                <a:latin typeface="IBM Plex Sans" pitchFamily="34" charset="0"/>
                <a:ea typeface="IBM Plex Sans" pitchFamily="34" charset="-122"/>
                <a:cs typeface="IBM Plex Sans" pitchFamily="34" charset="-120"/>
              </a:rPr>
              <a:t>Santiago Castillo</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71B"/>
                </a:solidFill>
                <a:latin typeface="JetBrains Mono" pitchFamily="49" charset="0"/>
                <a:ea typeface="JetBrains Mono" pitchFamily="49" charset="-122"/>
                <a:cs typeface="JetBrains Mono" pitchFamily="49" charset="-120"/>
              </a:rPr>
              <a:t>ARQUITECTURA</a:t>
            </a:r>
            <a:endParaRPr lang="en-US" sz="1200" dirty="0"/>
          </a:p>
        </p:txBody>
      </p:sp>
      <p:sp>
        <p:nvSpPr>
          <p:cNvPr id="3" name="Text 1"/>
          <p:cNvSpPr/>
          <p:nvPr>
            <p:ph type="title"/>
          </p:nvPr>
        </p:nvSpPr>
        <p:spPr>
          <a:xfrm>
            <a:off x="812800" y="11785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02B"/>
                </a:solidFill>
                <a:latin typeface="IBM Plex Sans" pitchFamily="34" charset="0"/>
                <a:ea typeface="IBM Plex Sans" pitchFamily="34" charset="-122"/>
                <a:cs typeface="IBM Plex Sans" pitchFamily="34" charset="-120"/>
              </a:rPr>
              <a:t>Tres servicios, un registro central</a:t>
            </a:r>
            <a:endParaRPr lang="en-US" sz="3200" dirty="0"/>
          </a:p>
        </p:txBody>
      </p:sp>
      <p:sp>
        <p:nvSpPr>
          <p:cNvPr id="4" name="Shape 2"/>
          <p:cNvSpPr/>
          <p:nvPr/>
        </p:nvSpPr>
        <p:spPr>
          <a:xfrm>
            <a:off x="4508500" y="2095500"/>
            <a:ext cx="3175000" cy="1079500"/>
          </a:xfrm>
          <a:prstGeom prst="roundRect">
            <a:avLst>
              <a:gd name="adj" fmla="val 9412"/>
            </a:avLst>
          </a:prstGeom>
          <a:solidFill>
            <a:srgbClr val="13202B"/>
          </a:solidFill>
          <a:ln/>
        </p:spPr>
      </p:sp>
      <p:sp>
        <p:nvSpPr>
          <p:cNvPr id="5" name="Text 3"/>
          <p:cNvSpPr/>
          <p:nvPr/>
        </p:nvSpPr>
        <p:spPr>
          <a:xfrm>
            <a:off x="4686300" y="2273300"/>
            <a:ext cx="290398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2EC"/>
                </a:solidFill>
                <a:latin typeface="IBM Plex Sans" pitchFamily="34" charset="0"/>
                <a:ea typeface="IBM Plex Sans" pitchFamily="34" charset="-122"/>
                <a:cs typeface="IBM Plex Sans" pitchFamily="34" charset="-120"/>
              </a:rPr>
              <a:t>fx-discovery-server</a:t>
            </a:r>
            <a:endParaRPr lang="en-US" sz="1800" dirty="0"/>
          </a:p>
        </p:txBody>
      </p:sp>
      <p:sp>
        <p:nvSpPr>
          <p:cNvPr id="6" name="Text 4"/>
          <p:cNvSpPr/>
          <p:nvPr/>
        </p:nvSpPr>
        <p:spPr>
          <a:xfrm>
            <a:off x="4686300" y="2598420"/>
            <a:ext cx="290398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4CE"/>
                </a:solidFill>
                <a:latin typeface="IBM Plex Sans" pitchFamily="34" charset="0"/>
                <a:ea typeface="IBM Plex Sans" pitchFamily="34" charset="-122"/>
                <a:cs typeface="IBM Plex Sans" pitchFamily="34" charset="-120"/>
              </a:rPr>
              <a:t>Eureka Server · puerto 8761</a:t>
            </a:r>
            <a:endParaRPr lang="en-US" sz="1300" dirty="0"/>
          </a:p>
        </p:txBody>
      </p:sp>
      <p:sp>
        <p:nvSpPr>
          <p:cNvPr id="7" name="Shape 5"/>
          <p:cNvSpPr/>
          <p:nvPr/>
        </p:nvSpPr>
        <p:spPr>
          <a:xfrm>
            <a:off x="819150" y="4324350"/>
            <a:ext cx="3543300" cy="1257300"/>
          </a:xfrm>
          <a:prstGeom prst="roundRect">
            <a:avLst>
              <a:gd name="adj" fmla="val 7576"/>
            </a:avLst>
          </a:prstGeom>
          <a:solidFill>
            <a:srgbClr val="FFFFFF"/>
          </a:solidFill>
          <a:ln w="12700">
            <a:solidFill>
              <a:srgbClr val="13202B"/>
            </a:solidFill>
            <a:prstDash val="solid"/>
          </a:ln>
        </p:spPr>
      </p:sp>
      <p:sp>
        <p:nvSpPr>
          <p:cNvPr id="8" name="Text 6"/>
          <p:cNvSpPr/>
          <p:nvPr/>
        </p:nvSpPr>
        <p:spPr>
          <a:xfrm>
            <a:off x="1000760" y="4505960"/>
            <a:ext cx="32754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B"/>
                </a:solidFill>
                <a:latin typeface="IBM Plex Sans" pitchFamily="34" charset="0"/>
                <a:ea typeface="IBM Plex Sans" pitchFamily="34" charset="-122"/>
                <a:cs typeface="IBM Plex Sans" pitchFamily="34" charset="-120"/>
              </a:rPr>
              <a:t>fx-catalog-service</a:t>
            </a:r>
            <a:endParaRPr lang="en-US" sz="1800" dirty="0"/>
          </a:p>
        </p:txBody>
      </p:sp>
      <p:sp>
        <p:nvSpPr>
          <p:cNvPr id="9" name="Text 7"/>
          <p:cNvSpPr/>
          <p:nvPr/>
        </p:nvSpPr>
        <p:spPr>
          <a:xfrm>
            <a:off x="1000760" y="4831080"/>
            <a:ext cx="327548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663"/>
                </a:solidFill>
                <a:latin typeface="IBM Plex Sans" pitchFamily="34" charset="0"/>
                <a:ea typeface="IBM Plex Sans" pitchFamily="34" charset="-122"/>
                <a:cs typeface="IBM Plex Sans" pitchFamily="34" charset="-120"/>
              </a:rPr>
              <a:t>Cliente · puerto 8002</a:t>
            </a:r>
            <a:endParaRPr lang="en-US" sz="1300" dirty="0"/>
          </a:p>
        </p:txBody>
      </p:sp>
      <p:sp>
        <p:nvSpPr>
          <p:cNvPr id="10" name="Text 8"/>
          <p:cNvSpPr/>
          <p:nvPr/>
        </p:nvSpPr>
        <p:spPr>
          <a:xfrm>
            <a:off x="1000760" y="5113020"/>
            <a:ext cx="327548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663"/>
                </a:solidFill>
                <a:latin typeface="IBM Plex Sans" pitchFamily="34" charset="0"/>
                <a:ea typeface="IBM Plex Sans" pitchFamily="34" charset="-122"/>
                <a:cs typeface="IBM Plex Sans" pitchFamily="34" charset="-120"/>
              </a:rPr>
              <a:t>/, /catalog, /firstcourse</a:t>
            </a:r>
            <a:endParaRPr lang="en-US" sz="1300" dirty="0"/>
          </a:p>
        </p:txBody>
      </p:sp>
      <p:sp>
        <p:nvSpPr>
          <p:cNvPr id="11" name="Shape 9"/>
          <p:cNvSpPr/>
          <p:nvPr/>
        </p:nvSpPr>
        <p:spPr>
          <a:xfrm>
            <a:off x="7829550" y="4324350"/>
            <a:ext cx="3543300" cy="1257300"/>
          </a:xfrm>
          <a:prstGeom prst="roundRect">
            <a:avLst>
              <a:gd name="adj" fmla="val 7576"/>
            </a:avLst>
          </a:prstGeom>
          <a:solidFill>
            <a:srgbClr val="FFFFFF"/>
          </a:solidFill>
          <a:ln w="12700">
            <a:solidFill>
              <a:srgbClr val="13202B"/>
            </a:solidFill>
            <a:prstDash val="solid"/>
          </a:ln>
        </p:spPr>
      </p:sp>
      <p:sp>
        <p:nvSpPr>
          <p:cNvPr id="12" name="Text 10"/>
          <p:cNvSpPr/>
          <p:nvPr/>
        </p:nvSpPr>
        <p:spPr>
          <a:xfrm>
            <a:off x="8011160" y="4505960"/>
            <a:ext cx="32754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B"/>
                </a:solidFill>
                <a:latin typeface="IBM Plex Sans" pitchFamily="34" charset="0"/>
                <a:ea typeface="IBM Plex Sans" pitchFamily="34" charset="-122"/>
                <a:cs typeface="IBM Plex Sans" pitchFamily="34" charset="-120"/>
              </a:rPr>
              <a:t>fx-course-service</a:t>
            </a:r>
            <a:endParaRPr lang="en-US" sz="1800" dirty="0"/>
          </a:p>
        </p:txBody>
      </p:sp>
      <p:sp>
        <p:nvSpPr>
          <p:cNvPr id="13" name="Text 11"/>
          <p:cNvSpPr/>
          <p:nvPr/>
        </p:nvSpPr>
        <p:spPr>
          <a:xfrm>
            <a:off x="8011160" y="4831080"/>
            <a:ext cx="327548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663"/>
                </a:solidFill>
                <a:latin typeface="IBM Plex Sans" pitchFamily="34" charset="0"/>
                <a:ea typeface="IBM Plex Sans" pitchFamily="34" charset="-122"/>
                <a:cs typeface="IBM Plex Sans" pitchFamily="34" charset="-120"/>
              </a:rPr>
              <a:t>Proveedor · puerto 8001</a:t>
            </a:r>
            <a:endParaRPr lang="en-US" sz="1300" dirty="0"/>
          </a:p>
        </p:txBody>
      </p:sp>
      <p:sp>
        <p:nvSpPr>
          <p:cNvPr id="14" name="Text 12"/>
          <p:cNvSpPr/>
          <p:nvPr/>
        </p:nvSpPr>
        <p:spPr>
          <a:xfrm>
            <a:off x="8011160" y="5113020"/>
            <a:ext cx="327548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663"/>
                </a:solidFill>
                <a:latin typeface="IBM Plex Sans" pitchFamily="34" charset="0"/>
                <a:ea typeface="IBM Plex Sans" pitchFamily="34" charset="-122"/>
                <a:cs typeface="IBM Plex Sans" pitchFamily="34" charset="-120"/>
              </a:rPr>
              <a:t>/, /courses, /{id} · H2</a:t>
            </a:r>
            <a:endParaRPr lang="en-US" sz="1300" dirty="0"/>
          </a:p>
        </p:txBody>
      </p:sp>
      <p:pic>
        <p:nvPicPr>
          <p:cNvPr id="15" name="Image 0" descr="connector">    </p:cNvPr>
          <p:cNvPicPr>
            <a:picLocks noChangeAspect="1"/>
          </p:cNvPicPr>
          <p:nvPr/>
        </p:nvPicPr>
        <p:blipFill>
          <a:blip r:embed="rId1"/>
          <a:srcRect l="0" r="0" t="0" b="0"/>
          <a:stretch/>
        </p:blipFill>
        <p:spPr>
          <a:xfrm>
            <a:off x="2743200" y="3124200"/>
            <a:ext cx="2324100" cy="1244600"/>
          </a:xfrm>
          <a:prstGeom prst="rect">
            <a:avLst/>
          </a:prstGeom>
        </p:spPr>
      </p:pic>
      <p:pic>
        <p:nvPicPr>
          <p:cNvPr id="16" name="Image 1" descr="connector">    </p:cNvPr>
          <p:cNvPicPr>
            <a:picLocks noChangeAspect="1"/>
          </p:cNvPicPr>
          <p:nvPr/>
        </p:nvPicPr>
        <p:blipFill>
          <a:blip r:embed="rId2"/>
          <a:srcRect l="0" r="0" t="0" b="0"/>
          <a:stretch/>
        </p:blipFill>
        <p:spPr>
          <a:xfrm>
            <a:off x="7124700" y="3124200"/>
            <a:ext cx="2324100" cy="1244600"/>
          </a:xfrm>
          <a:prstGeom prst="rect">
            <a:avLst/>
          </a:prstGeom>
        </p:spPr>
      </p:pic>
      <p:pic>
        <p:nvPicPr>
          <p:cNvPr id="17" name="Image 2" descr="connector">    </p:cNvPr>
          <p:cNvPicPr>
            <a:picLocks noChangeAspect="1"/>
          </p:cNvPicPr>
          <p:nvPr/>
        </p:nvPicPr>
        <p:blipFill>
          <a:blip r:embed="rId3"/>
          <a:srcRect l="0" r="0" t="0" b="0"/>
          <a:stretch/>
        </p:blipFill>
        <p:spPr>
          <a:xfrm>
            <a:off x="4305300" y="4889500"/>
            <a:ext cx="3581400" cy="127000"/>
          </a:xfrm>
          <a:prstGeom prst="rect">
            <a:avLst/>
          </a:prstGeom>
        </p:spPr>
      </p:pic>
      <p:sp>
        <p:nvSpPr>
          <p:cNvPr id="18" name="Text 13"/>
          <p:cNvSpPr/>
          <p:nvPr/>
        </p:nvSpPr>
        <p:spPr>
          <a:xfrm>
            <a:off x="1062990" y="3429000"/>
            <a:ext cx="274701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2F6FB0"/>
                </a:solidFill>
                <a:latin typeface="IBM Plex Sans" pitchFamily="34" charset="0"/>
                <a:ea typeface="IBM Plex Sans" pitchFamily="34" charset="-122"/>
                <a:cs typeface="IBM Plex Sans" pitchFamily="34" charset="-120"/>
              </a:rPr>
              <a:t>se registra y consulta el registro</a:t>
            </a:r>
            <a:endParaRPr lang="en-US" sz="1200" dirty="0"/>
          </a:p>
        </p:txBody>
      </p:sp>
      <p:sp>
        <p:nvSpPr>
          <p:cNvPr id="19" name="Text 14"/>
          <p:cNvSpPr/>
          <p:nvPr/>
        </p:nvSpPr>
        <p:spPr>
          <a:xfrm>
            <a:off x="8382000" y="3429000"/>
            <a:ext cx="27470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B0"/>
                </a:solidFill>
                <a:latin typeface="IBM Plex Sans" pitchFamily="34" charset="0"/>
                <a:ea typeface="IBM Plex Sans" pitchFamily="34" charset="-122"/>
                <a:cs typeface="IBM Plex Sans" pitchFamily="34" charset="-120"/>
              </a:rPr>
              <a:t>se registra como fx-course-service</a:t>
            </a:r>
            <a:endParaRPr lang="en-US" sz="1200" dirty="0"/>
          </a:p>
        </p:txBody>
      </p:sp>
      <p:sp>
        <p:nvSpPr>
          <p:cNvPr id="20" name="Text 15"/>
          <p:cNvSpPr/>
          <p:nvPr/>
        </p:nvSpPr>
        <p:spPr>
          <a:xfrm>
            <a:off x="4395470" y="5080000"/>
            <a:ext cx="340106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5571B"/>
                </a:solidFill>
                <a:latin typeface="IBM Plex Sans" pitchFamily="34" charset="0"/>
                <a:ea typeface="IBM Plex Sans" pitchFamily="34" charset="-122"/>
                <a:cs typeface="IBM Plex Sans" pitchFamily="34" charset="-120"/>
              </a:rPr>
              <a:t>llamada HTTP con RestTemplate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71B"/>
                </a:solidFill>
                <a:latin typeface="JetBrains Mono" pitchFamily="49" charset="0"/>
                <a:ea typeface="JetBrains Mono" pitchFamily="49" charset="-122"/>
                <a:cs typeface="JetBrains Mono" pitchFamily="49" charset="-120"/>
              </a:rPr>
              <a:t>PARTE 1 · SERVICE DISCOVERY</a:t>
            </a:r>
            <a:endParaRPr lang="en-US" sz="1200" dirty="0"/>
          </a:p>
        </p:txBody>
      </p:sp>
      <p:sp>
        <p:nvSpPr>
          <p:cNvPr id="3" name="Text 1"/>
          <p:cNvSpPr/>
          <p:nvPr>
            <p:ph type="title"/>
          </p:nvPr>
        </p:nvSpPr>
        <p:spPr>
          <a:xfrm>
            <a:off x="812800" y="11785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02B"/>
                </a:solidFill>
                <a:latin typeface="IBM Plex Sans" pitchFamily="34" charset="0"/>
                <a:ea typeface="IBM Plex Sans" pitchFamily="34" charset="-122"/>
                <a:cs typeface="IBM Plex Sans" pitchFamily="34" charset="-120"/>
              </a:rPr>
              <a:t>Cómo el catálogo encuentra al servicio de cursos</a:t>
            </a:r>
            <a:endParaRPr lang="en-US" sz="3200" dirty="0"/>
          </a:p>
        </p:txBody>
      </p:sp>
      <p:sp>
        <p:nvSpPr>
          <p:cNvPr id="4" name="Shape 2"/>
          <p:cNvSpPr/>
          <p:nvPr/>
        </p:nvSpPr>
        <p:spPr>
          <a:xfrm>
            <a:off x="815975" y="1882775"/>
            <a:ext cx="2501900" cy="2454910"/>
          </a:xfrm>
          <a:prstGeom prst="roundRect">
            <a:avLst>
              <a:gd name="adj" fmla="val 4009"/>
            </a:avLst>
          </a:prstGeom>
          <a:solidFill>
            <a:srgbClr val="FFFFFF"/>
          </a:solidFill>
          <a:ln w="6350">
            <a:solidFill>
              <a:srgbClr val="D5D1C6"/>
            </a:solidFill>
            <a:prstDash val="solid"/>
          </a:ln>
        </p:spPr>
      </p:sp>
      <p:sp>
        <p:nvSpPr>
          <p:cNvPr id="5" name="Text 3"/>
          <p:cNvSpPr/>
          <p:nvPr/>
        </p:nvSpPr>
        <p:spPr>
          <a:xfrm>
            <a:off x="1046480" y="2113280"/>
            <a:ext cx="2102117"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5571B"/>
                </a:solidFill>
                <a:latin typeface="JetBrains Mono" pitchFamily="49" charset="0"/>
                <a:ea typeface="JetBrains Mono" pitchFamily="49" charset="-122"/>
                <a:cs typeface="JetBrains Mono" pitchFamily="49" charset="-120"/>
              </a:rPr>
              <a:t>01</a:t>
            </a:r>
            <a:endParaRPr lang="en-US" sz="2200" dirty="0"/>
          </a:p>
        </p:txBody>
      </p:sp>
      <p:sp>
        <p:nvSpPr>
          <p:cNvPr id="6" name="Text 4"/>
          <p:cNvSpPr/>
          <p:nvPr/>
        </p:nvSpPr>
        <p:spPr>
          <a:xfrm>
            <a:off x="1046480" y="2606041"/>
            <a:ext cx="210211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B"/>
                </a:solidFill>
                <a:latin typeface="IBM Plex Sans" pitchFamily="34" charset="0"/>
                <a:ea typeface="IBM Plex Sans" pitchFamily="34" charset="-122"/>
                <a:cs typeface="IBM Plex Sans" pitchFamily="34" charset="-120"/>
              </a:rPr>
              <a:t>Registro</a:t>
            </a:r>
            <a:endParaRPr lang="en-US" sz="1600" dirty="0"/>
          </a:p>
        </p:txBody>
      </p:sp>
      <p:sp>
        <p:nvSpPr>
          <p:cNvPr id="7" name="Text 5"/>
          <p:cNvSpPr/>
          <p:nvPr/>
        </p:nvSpPr>
        <p:spPr>
          <a:xfrm>
            <a:off x="1046480" y="2951480"/>
            <a:ext cx="2102117"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663"/>
                </a:solidFill>
                <a:latin typeface="IBM Plex Sans" pitchFamily="34" charset="0"/>
                <a:ea typeface="IBM Plex Sans" pitchFamily="34" charset="-122"/>
                <a:cs typeface="IBM Plex Sans" pitchFamily="34" charset="-120"/>
              </a:rPr>
              <a:t>Al arrancar, cada servicio se registra en Eureka con su nombre y envía un latido cada 30 s.</a:t>
            </a:r>
            <a:endParaRPr lang="en-US" sz="1300" dirty="0"/>
          </a:p>
        </p:txBody>
      </p:sp>
      <p:sp>
        <p:nvSpPr>
          <p:cNvPr id="8" name="Shape 6"/>
          <p:cNvSpPr/>
          <p:nvPr/>
        </p:nvSpPr>
        <p:spPr>
          <a:xfrm>
            <a:off x="3502025" y="1882775"/>
            <a:ext cx="2501900" cy="2454910"/>
          </a:xfrm>
          <a:prstGeom prst="roundRect">
            <a:avLst>
              <a:gd name="adj" fmla="val 4009"/>
            </a:avLst>
          </a:prstGeom>
          <a:solidFill>
            <a:srgbClr val="FFFFFF"/>
          </a:solidFill>
          <a:ln w="6350">
            <a:solidFill>
              <a:srgbClr val="D5D1C6"/>
            </a:solidFill>
            <a:prstDash val="solid"/>
          </a:ln>
        </p:spPr>
      </p:sp>
      <p:sp>
        <p:nvSpPr>
          <p:cNvPr id="9" name="Text 7"/>
          <p:cNvSpPr/>
          <p:nvPr/>
        </p:nvSpPr>
        <p:spPr>
          <a:xfrm>
            <a:off x="3732530" y="2113280"/>
            <a:ext cx="2102117"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5571B"/>
                </a:solidFill>
                <a:latin typeface="JetBrains Mono" pitchFamily="49" charset="0"/>
                <a:ea typeface="JetBrains Mono" pitchFamily="49" charset="-122"/>
                <a:cs typeface="JetBrains Mono" pitchFamily="49" charset="-120"/>
              </a:rPr>
              <a:t>02</a:t>
            </a:r>
            <a:endParaRPr lang="en-US" sz="2200" dirty="0"/>
          </a:p>
        </p:txBody>
      </p:sp>
      <p:sp>
        <p:nvSpPr>
          <p:cNvPr id="10" name="Text 8"/>
          <p:cNvSpPr/>
          <p:nvPr/>
        </p:nvSpPr>
        <p:spPr>
          <a:xfrm>
            <a:off x="3732530" y="2606041"/>
            <a:ext cx="210211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B"/>
                </a:solidFill>
                <a:latin typeface="IBM Plex Sans" pitchFamily="34" charset="0"/>
                <a:ea typeface="IBM Plex Sans" pitchFamily="34" charset="-122"/>
                <a:cs typeface="IBM Plex Sans" pitchFamily="34" charset="-120"/>
              </a:rPr>
              <a:t>Copia del registro</a:t>
            </a:r>
            <a:endParaRPr lang="en-US" sz="1600" dirty="0"/>
          </a:p>
        </p:txBody>
      </p:sp>
      <p:sp>
        <p:nvSpPr>
          <p:cNvPr id="11" name="Text 9"/>
          <p:cNvSpPr/>
          <p:nvPr/>
        </p:nvSpPr>
        <p:spPr>
          <a:xfrm>
            <a:off x="3732530" y="2951480"/>
            <a:ext cx="2102117" cy="11811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663"/>
                </a:solidFill>
                <a:latin typeface="IBM Plex Sans" pitchFamily="34" charset="0"/>
                <a:ea typeface="IBM Plex Sans" pitchFamily="34" charset="-122"/>
                <a:cs typeface="IBM Plex Sans" pitchFamily="34" charset="-120"/>
              </a:rPr>
              <a:t>El EurekaClient del catálogo descarga el registro y lo refresca periódicamente en memoria.</a:t>
            </a:r>
            <a:endParaRPr lang="en-US" sz="1300" dirty="0"/>
          </a:p>
        </p:txBody>
      </p:sp>
      <p:sp>
        <p:nvSpPr>
          <p:cNvPr id="12" name="Shape 10"/>
          <p:cNvSpPr/>
          <p:nvPr/>
        </p:nvSpPr>
        <p:spPr>
          <a:xfrm>
            <a:off x="6188075" y="1882775"/>
            <a:ext cx="2501900" cy="2454910"/>
          </a:xfrm>
          <a:prstGeom prst="roundRect">
            <a:avLst>
              <a:gd name="adj" fmla="val 4009"/>
            </a:avLst>
          </a:prstGeom>
          <a:solidFill>
            <a:srgbClr val="FFFFFF"/>
          </a:solidFill>
          <a:ln w="6350">
            <a:solidFill>
              <a:srgbClr val="D5D1C6"/>
            </a:solidFill>
            <a:prstDash val="solid"/>
          </a:ln>
        </p:spPr>
      </p:sp>
      <p:sp>
        <p:nvSpPr>
          <p:cNvPr id="13" name="Text 11"/>
          <p:cNvSpPr/>
          <p:nvPr/>
        </p:nvSpPr>
        <p:spPr>
          <a:xfrm>
            <a:off x="6418580" y="2113280"/>
            <a:ext cx="2102117"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5571B"/>
                </a:solidFill>
                <a:latin typeface="JetBrains Mono" pitchFamily="49" charset="0"/>
                <a:ea typeface="JetBrains Mono" pitchFamily="49" charset="-122"/>
                <a:cs typeface="JetBrains Mono" pitchFamily="49" charset="-120"/>
              </a:rPr>
              <a:t>03</a:t>
            </a:r>
            <a:endParaRPr lang="en-US" sz="2200" dirty="0"/>
          </a:p>
        </p:txBody>
      </p:sp>
      <p:sp>
        <p:nvSpPr>
          <p:cNvPr id="14" name="Text 12"/>
          <p:cNvSpPr/>
          <p:nvPr/>
        </p:nvSpPr>
        <p:spPr>
          <a:xfrm>
            <a:off x="6418580" y="2606041"/>
            <a:ext cx="2102117"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B"/>
                </a:solidFill>
                <a:latin typeface="IBM Plex Sans" pitchFamily="34" charset="0"/>
                <a:ea typeface="IBM Plex Sans" pitchFamily="34" charset="-122"/>
                <a:cs typeface="IBM Plex Sans" pitchFamily="34" charset="-120"/>
              </a:rPr>
              <a:t>Búsqueda por nombre</a:t>
            </a:r>
            <a:endParaRPr lang="en-US" sz="1600" dirty="0"/>
          </a:p>
        </p:txBody>
      </p:sp>
      <p:sp>
        <p:nvSpPr>
          <p:cNvPr id="15" name="Text 13"/>
          <p:cNvSpPr/>
          <p:nvPr/>
        </p:nvSpPr>
        <p:spPr>
          <a:xfrm>
            <a:off x="6418580" y="3195320"/>
            <a:ext cx="2102117"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663"/>
                </a:solidFill>
                <a:latin typeface="IBM Plex Sans" pitchFamily="34" charset="0"/>
                <a:ea typeface="IBM Plex Sans" pitchFamily="34" charset="-122"/>
                <a:cs typeface="IBM Plex Sans" pitchFamily="34" charset="-120"/>
              </a:rPr>
              <a:t>Pide a Eureka una instancia de fx-course-service y obtiene su URL.</a:t>
            </a:r>
            <a:endParaRPr lang="en-US" sz="1300" dirty="0"/>
          </a:p>
        </p:txBody>
      </p:sp>
      <p:sp>
        <p:nvSpPr>
          <p:cNvPr id="16" name="Shape 14"/>
          <p:cNvSpPr/>
          <p:nvPr/>
        </p:nvSpPr>
        <p:spPr>
          <a:xfrm>
            <a:off x="8874125" y="1882775"/>
            <a:ext cx="2501900" cy="2454910"/>
          </a:xfrm>
          <a:prstGeom prst="roundRect">
            <a:avLst>
              <a:gd name="adj" fmla="val 4009"/>
            </a:avLst>
          </a:prstGeom>
          <a:solidFill>
            <a:srgbClr val="FFFFFF"/>
          </a:solidFill>
          <a:ln w="6350">
            <a:solidFill>
              <a:srgbClr val="D5D1C6"/>
            </a:solidFill>
            <a:prstDash val="solid"/>
          </a:ln>
        </p:spPr>
      </p:sp>
      <p:sp>
        <p:nvSpPr>
          <p:cNvPr id="17" name="Text 15"/>
          <p:cNvSpPr/>
          <p:nvPr/>
        </p:nvSpPr>
        <p:spPr>
          <a:xfrm>
            <a:off x="9104630" y="2113280"/>
            <a:ext cx="2102117"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5571B"/>
                </a:solidFill>
                <a:latin typeface="JetBrains Mono" pitchFamily="49" charset="0"/>
                <a:ea typeface="JetBrains Mono" pitchFamily="49" charset="-122"/>
                <a:cs typeface="JetBrains Mono" pitchFamily="49" charset="-120"/>
              </a:rPr>
              <a:t>04</a:t>
            </a:r>
            <a:endParaRPr lang="en-US" sz="2200" dirty="0"/>
          </a:p>
        </p:txBody>
      </p:sp>
      <p:sp>
        <p:nvSpPr>
          <p:cNvPr id="18" name="Text 16"/>
          <p:cNvSpPr/>
          <p:nvPr/>
        </p:nvSpPr>
        <p:spPr>
          <a:xfrm>
            <a:off x="9104630" y="2606041"/>
            <a:ext cx="210211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B"/>
                </a:solidFill>
                <a:latin typeface="IBM Plex Sans" pitchFamily="34" charset="0"/>
                <a:ea typeface="IBM Plex Sans" pitchFamily="34" charset="-122"/>
                <a:cs typeface="IBM Plex Sans" pitchFamily="34" charset="-120"/>
              </a:rPr>
              <a:t>Llamada directa</a:t>
            </a:r>
            <a:endParaRPr lang="en-US" sz="1600" dirty="0"/>
          </a:p>
        </p:txBody>
      </p:sp>
      <p:sp>
        <p:nvSpPr>
          <p:cNvPr id="19" name="Text 17"/>
          <p:cNvSpPr/>
          <p:nvPr/>
        </p:nvSpPr>
        <p:spPr>
          <a:xfrm>
            <a:off x="9104630" y="2951480"/>
            <a:ext cx="2102117"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663"/>
                </a:solidFill>
                <a:latin typeface="IBM Plex Sans" pitchFamily="34" charset="0"/>
                <a:ea typeface="IBM Plex Sans" pitchFamily="34" charset="-122"/>
                <a:cs typeface="IBM Plex Sans" pitchFamily="34" charset="-120"/>
              </a:rPr>
              <a:t>RestTemplate llama a esa URL + /courses o /1. Eureka no está en el camino de la petición.</a:t>
            </a:r>
            <a:endParaRPr lang="en-US" sz="1300" dirty="0"/>
          </a:p>
        </p:txBody>
      </p:sp>
      <p:sp>
        <p:nvSpPr>
          <p:cNvPr id="20" name="Text 18"/>
          <p:cNvSpPr/>
          <p:nvPr/>
        </p:nvSpPr>
        <p:spPr>
          <a:xfrm>
            <a:off x="812800" y="4594861"/>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3202B"/>
                </a:solidFill>
                <a:latin typeface="IBM Plex Sans" pitchFamily="34" charset="0"/>
                <a:ea typeface="IBM Plex Sans" pitchFamily="34" charset="-122"/>
                <a:cs typeface="IBM Plex Sans" pitchFamily="34" charset="-120"/>
              </a:rPr>
              <a:t>Resultado: </a:t>
            </a:r>
            <a:r>
              <a:rPr lang="en-US" sz="1500" b="1" dirty="0">
                <a:solidFill>
                  <a:srgbClr val="13202B"/>
                </a:solidFill>
                <a:latin typeface="IBM Plex Sans" pitchFamily="34" charset="0"/>
                <a:ea typeface="IBM Plex Sans" pitchFamily="34" charset="-122"/>
                <a:cs typeface="IBM Plex Sans" pitchFamily="34" charset="-120"/>
              </a:rPr>
              <a:t>ninguna URL fija en el código</a:t>
            </a:r>
            <a:r>
              <a:rPr lang="en-US" sz="1500" dirty="0">
                <a:solidFill>
                  <a:srgbClr val="13202B"/>
                </a:solidFill>
                <a:latin typeface="IBM Plex Sans" pitchFamily="34" charset="0"/>
                <a:ea typeface="IBM Plex Sans" pitchFamily="34" charset="-122"/>
                <a:cs typeface="IBM Plex Sans" pitchFamily="34" charset="-120"/>
              </a:rPr>
              <a:t>. Si el servicio cambia de host o puerto, o se agregan instancias, el catálogo lo sigue encontrando.</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71B"/>
                </a:solidFill>
                <a:latin typeface="JetBrains Mono" pitchFamily="49" charset="0"/>
                <a:ea typeface="JetBrains Mono" pitchFamily="49" charset="-122"/>
                <a:cs typeface="JetBrains Mono" pitchFamily="49" charset="-120"/>
              </a:rPr>
              <a:t>PARTE 1 · SERVICE DISCOVERY</a:t>
            </a:r>
            <a:endParaRPr lang="en-US" sz="1200" dirty="0"/>
          </a:p>
        </p:txBody>
      </p:sp>
      <p:sp>
        <p:nvSpPr>
          <p:cNvPr id="3" name="Text 1"/>
          <p:cNvSpPr/>
          <p:nvPr>
            <p:ph type="title"/>
          </p:nvPr>
        </p:nvSpPr>
        <p:spPr>
          <a:xfrm>
            <a:off x="812800" y="11785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02B"/>
                </a:solidFill>
                <a:latin typeface="IBM Plex Sans" pitchFamily="34" charset="0"/>
                <a:ea typeface="IBM Plex Sans" pitchFamily="34" charset="-122"/>
                <a:cs typeface="IBM Plex Sans" pitchFamily="34" charset="-120"/>
              </a:rPr>
              <a:t>La configuración y el código que lo hacen posible</a:t>
            </a:r>
            <a:endParaRPr lang="en-US" sz="3200" dirty="0"/>
          </a:p>
        </p:txBody>
      </p:sp>
      <p:sp>
        <p:nvSpPr>
          <p:cNvPr id="4" name="Text 2"/>
          <p:cNvSpPr/>
          <p:nvPr/>
        </p:nvSpPr>
        <p:spPr>
          <a:xfrm>
            <a:off x="812800" y="1879600"/>
            <a:ext cx="474407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B"/>
                </a:solidFill>
                <a:latin typeface="IBM Plex Sans" pitchFamily="34" charset="0"/>
                <a:ea typeface="IBM Plex Sans" pitchFamily="34" charset="-122"/>
                <a:cs typeface="IBM Plex Sans" pitchFamily="34" charset="-120"/>
              </a:rPr>
              <a:t>application.properties</a:t>
            </a:r>
            <a:endParaRPr lang="en-US" sz="1600" dirty="0"/>
          </a:p>
        </p:txBody>
      </p:sp>
      <p:sp>
        <p:nvSpPr>
          <p:cNvPr id="5" name="Text 3"/>
          <p:cNvSpPr/>
          <p:nvPr/>
        </p:nvSpPr>
        <p:spPr>
          <a:xfrm>
            <a:off x="812800" y="2225041"/>
            <a:ext cx="4605893" cy="2844800"/>
          </a:xfrm>
          <a:prstGeom prst="roundRect">
            <a:avLst>
              <a:gd name="adj" fmla="val 2679"/>
            </a:avLst>
          </a:prstGeom>
          <a:solidFill>
            <a:srgbClr val="13202B"/>
          </a:solidFill>
          <a:ln/>
        </p:spPr>
        <p:txBody>
          <a:bodyPr wrap="square" lIns="180882" tIns="180882" rIns="54897" bIns="155482" rtlCol="0" anchor="t">
            <a:normAutofit/>
          </a:bodyPr>
          <a:lstStyle/>
          <a:p>
            <a:pPr algn="l" indent="0" marL="0">
              <a:lnSpc>
                <a:spcPts val="1920"/>
              </a:lnSpc>
              <a:buNone/>
            </a:pPr>
            <a:r>
              <a:rPr lang="en-US" sz="1200" dirty="0">
                <a:solidFill>
                  <a:srgbClr val="8FA3B5"/>
                </a:solidFill>
                <a:latin typeface="JetBrains Mono" pitchFamily="49" charset="0"/>
                <a:ea typeface="JetBrains Mono" pitchFamily="49" charset="-122"/>
                <a:cs typeface="JetBrains Mono" pitchFamily="49" charset="-120"/>
              </a:rPr>
              <a:t># fx-course-service</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spring.application.name=</a:t>
            </a:r>
            <a:r>
              <a:rPr lang="en-US" sz="1200" dirty="0">
                <a:solidFill>
                  <a:srgbClr val="F0A35E"/>
                </a:solidFill>
                <a:latin typeface="JetBrains Mono" pitchFamily="49" charset="0"/>
                <a:ea typeface="JetBrains Mono" pitchFamily="49" charset="-122"/>
                <a:cs typeface="JetBrains Mono" pitchFamily="49" charset="-120"/>
              </a:rPr>
              <a:t>fx-course-service</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server.port=8001</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eureka.client.service-url.defaultZone:</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http://localhost:8761/eureka/</a:t>
            </a:r>
            <a:endParaRPr lang="en-US" sz="1200" dirty="0"/>
          </a:p>
          <a:p>
            <a:pPr algn="l" indent="0" marL="0">
              <a:lnSpc>
                <a:spcPts val="1920"/>
              </a:lnSpc>
              <a:buNone/>
            </a:pPr>
            <a:endParaRPr lang="en-US" sz="1200" dirty="0"/>
          </a:p>
          <a:p>
            <a:pPr algn="l" indent="0" marL="0">
              <a:lnSpc>
                <a:spcPts val="1920"/>
              </a:lnSpc>
              <a:buNone/>
            </a:pPr>
            <a:r>
              <a:rPr lang="en-US" sz="1200" dirty="0">
                <a:solidFill>
                  <a:srgbClr val="8FA3B5"/>
                </a:solidFill>
                <a:latin typeface="JetBrains Mono" pitchFamily="49" charset="0"/>
                <a:ea typeface="JetBrains Mono" pitchFamily="49" charset="-122"/>
                <a:cs typeface="JetBrains Mono" pitchFamily="49" charset="-120"/>
              </a:rPr>
              <a:t># fx-discovery-server</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server.port=8761</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eureka.client.register-with-eureka=false</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eureka.client.fetch-registry=false</a:t>
            </a:r>
            <a:endParaRPr lang="en-US" sz="1200" dirty="0"/>
          </a:p>
        </p:txBody>
      </p:sp>
      <p:sp>
        <p:nvSpPr>
          <p:cNvPr id="6" name="Text 4"/>
          <p:cNvSpPr/>
          <p:nvPr/>
        </p:nvSpPr>
        <p:spPr>
          <a:xfrm>
            <a:off x="5621893" y="1879600"/>
            <a:ext cx="593002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B"/>
                </a:solidFill>
                <a:latin typeface="IBM Plex Sans" pitchFamily="34" charset="0"/>
                <a:ea typeface="IBM Plex Sans" pitchFamily="34" charset="-122"/>
                <a:cs typeface="IBM Plex Sans" pitchFamily="34" charset="-120"/>
              </a:rPr>
              <a:t>CatalogController.java · /catalog</a:t>
            </a:r>
            <a:endParaRPr lang="en-US" sz="1600" dirty="0"/>
          </a:p>
        </p:txBody>
      </p:sp>
      <p:sp>
        <p:nvSpPr>
          <p:cNvPr id="7" name="Text 5"/>
          <p:cNvSpPr/>
          <p:nvPr/>
        </p:nvSpPr>
        <p:spPr>
          <a:xfrm>
            <a:off x="5621893" y="2225041"/>
            <a:ext cx="5757307" cy="3088640"/>
          </a:xfrm>
          <a:prstGeom prst="roundRect">
            <a:avLst>
              <a:gd name="adj" fmla="val 2467"/>
            </a:avLst>
          </a:prstGeom>
          <a:solidFill>
            <a:srgbClr val="13202B"/>
          </a:solidFill>
          <a:ln/>
        </p:spPr>
        <p:txBody>
          <a:bodyPr wrap="square" lIns="180882" tIns="180882" rIns="20355" bIns="155482" rtlCol="0" anchor="t">
            <a:normAutofit/>
          </a:bodyPr>
          <a:lstStyle/>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@Autowired</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private EurekaClient client;</a:t>
            </a:r>
            <a:endParaRPr lang="en-US" sz="1200" dirty="0"/>
          </a:p>
          <a:p>
            <a:pPr algn="l" indent="0" marL="0">
              <a:lnSpc>
                <a:spcPts val="1920"/>
              </a:lnSpc>
              <a:buNone/>
            </a:pP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InstanceInfo instanceInfo =</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client.getNextServerFromEureka(</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"fx-course-service"</a:t>
            </a:r>
            <a:r>
              <a:rPr lang="en-US" sz="1200" dirty="0">
                <a:solidFill>
                  <a:srgbClr val="E6E9EC"/>
                </a:solidFill>
                <a:latin typeface="JetBrains Mono" pitchFamily="49" charset="0"/>
                <a:ea typeface="JetBrains Mono" pitchFamily="49" charset="-122"/>
                <a:cs typeface="JetBrains Mono" pitchFamily="49" charset="-120"/>
              </a:rPr>
              <a:t>, false);</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String courseAppURL = instanceInfo.getHomePageUrl();</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courseAppURL = courseAppURL + "/courses";</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RestTemplate restTemplate = new RestTemplate();</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courses = restTemplate.getForObject(</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courseAppURL, String.class);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71B"/>
                </a:solidFill>
                <a:latin typeface="JetBrains Mono" pitchFamily="49" charset="0"/>
                <a:ea typeface="JetBrains Mono" pitchFamily="49" charset="-122"/>
                <a:cs typeface="JetBrains Mono" pitchFamily="49" charset="-120"/>
              </a:rPr>
              <a:t>PARTE 1 · DEMOSTRACIÓN</a:t>
            </a:r>
            <a:endParaRPr lang="en-US" sz="1200" dirty="0"/>
          </a:p>
        </p:txBody>
      </p:sp>
      <p:sp>
        <p:nvSpPr>
          <p:cNvPr id="3" name="Text 1"/>
          <p:cNvSpPr/>
          <p:nvPr>
            <p:ph type="title"/>
          </p:nvPr>
        </p:nvSpPr>
        <p:spPr>
          <a:xfrm>
            <a:off x="812800" y="11785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02B"/>
                </a:solidFill>
                <a:latin typeface="IBM Plex Sans" pitchFamily="34" charset="0"/>
                <a:ea typeface="IBM Plex Sans" pitchFamily="34" charset="-122"/>
                <a:cs typeface="IBM Plex Sans" pitchFamily="34" charset="-120"/>
              </a:rPr>
              <a:t>Ambos servicios registrados en Eureka</a:t>
            </a:r>
            <a:endParaRPr lang="en-US" sz="3200" dirty="0"/>
          </a:p>
        </p:txBody>
      </p:sp>
      <p:sp>
        <p:nvSpPr>
          <p:cNvPr id="4" name="Shape 2"/>
          <p:cNvSpPr/>
          <p:nvPr/>
        </p:nvSpPr>
        <p:spPr>
          <a:xfrm>
            <a:off x="812800" y="1828800"/>
            <a:ext cx="7302500" cy="3581400"/>
          </a:xfrm>
          <a:prstGeom prst="roundRect">
            <a:avLst>
              <a:gd name="adj" fmla="val 2128"/>
            </a:avLst>
          </a:prstGeom>
          <a:solidFill>
            <a:srgbClr val="FFFFFF"/>
          </a:solidFill>
          <a:ln/>
        </p:spPr>
      </p:sp>
      <p:pic>
        <p:nvPicPr>
          <p:cNvPr id="5" name="Image 0" descr="Panel de Eureka en localhost:8761 con FX-CATALOG-SERVICE en el puerto 8002 y FX-COURSE-SERVICE en el puerto 8001, ambos en estado UP">    </p:cNvPr>
          <p:cNvPicPr>
            <a:picLocks noChangeAspect="1"/>
          </p:cNvPicPr>
          <p:nvPr/>
        </p:nvPicPr>
        <p:blipFill>
          <a:blip r:embed="rId1"/>
          <a:srcRect l="-110" r="-110" t="0" b="0"/>
          <a:stretch/>
        </p:blipFill>
        <p:spPr>
          <a:xfrm>
            <a:off x="819150" y="1835150"/>
            <a:ext cx="7289800" cy="3568700"/>
          </a:xfrm>
          <a:prstGeom prst="roundRect">
            <a:avLst>
              <a:gd name="adj" fmla="val 1957"/>
            </a:avLst>
          </a:prstGeom>
        </p:spPr>
      </p:pic>
      <p:sp>
        <p:nvSpPr>
          <p:cNvPr id="6" name="Shape 3"/>
          <p:cNvSpPr/>
          <p:nvPr/>
        </p:nvSpPr>
        <p:spPr>
          <a:xfrm>
            <a:off x="815975" y="1831975"/>
            <a:ext cx="7296150" cy="3575050"/>
          </a:xfrm>
          <a:prstGeom prst="roundRect">
            <a:avLst>
              <a:gd name="adj" fmla="val 2043"/>
            </a:avLst>
          </a:prstGeom>
          <a:noFill/>
          <a:ln w="6350">
            <a:solidFill>
              <a:srgbClr val="D5D1C6"/>
            </a:solidFill>
            <a:prstDash val="solid"/>
          </a:ln>
        </p:spPr>
      </p:sp>
      <p:sp>
        <p:nvSpPr>
          <p:cNvPr id="7" name="Text 4"/>
          <p:cNvSpPr/>
          <p:nvPr/>
        </p:nvSpPr>
        <p:spPr>
          <a:xfrm>
            <a:off x="8369300" y="2688589"/>
            <a:ext cx="3100197"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B"/>
                </a:solidFill>
                <a:latin typeface="IBM Plex Sans" pitchFamily="34" charset="0"/>
                <a:ea typeface="IBM Plex Sans" pitchFamily="34" charset="-122"/>
                <a:cs typeface="IBM Plex Sans" pitchFamily="34" charset="-120"/>
              </a:rPr>
              <a:t>localhost:8761</a:t>
            </a:r>
            <a:endParaRPr lang="en-US" sz="1400" dirty="0"/>
          </a:p>
        </p:txBody>
      </p:sp>
      <p:sp>
        <p:nvSpPr>
          <p:cNvPr id="8" name="Text 5"/>
          <p:cNvSpPr/>
          <p:nvPr/>
        </p:nvSpPr>
        <p:spPr>
          <a:xfrm>
            <a:off x="8369300" y="3089911"/>
            <a:ext cx="310019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663"/>
                </a:solidFill>
                <a:latin typeface="IBM Plex Sans" pitchFamily="34" charset="0"/>
                <a:ea typeface="IBM Plex Sans" pitchFamily="34" charset="-122"/>
                <a:cs typeface="IBM Plex Sans" pitchFamily="34" charset="-120"/>
              </a:rPr>
              <a:t>FX-CATALOG-SERVICE → UP en :8002</a:t>
            </a:r>
            <a:endParaRPr lang="en-US" sz="1300" dirty="0"/>
          </a:p>
        </p:txBody>
      </p:sp>
      <p:sp>
        <p:nvSpPr>
          <p:cNvPr id="9" name="Text 6"/>
          <p:cNvSpPr/>
          <p:nvPr/>
        </p:nvSpPr>
        <p:spPr>
          <a:xfrm>
            <a:off x="8369300" y="3473450"/>
            <a:ext cx="310019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663"/>
                </a:solidFill>
                <a:latin typeface="IBM Plex Sans" pitchFamily="34" charset="0"/>
                <a:ea typeface="IBM Plex Sans" pitchFamily="34" charset="-122"/>
                <a:cs typeface="IBM Plex Sans" pitchFamily="34" charset="-120"/>
              </a:rPr>
              <a:t>FX-COURSE-SERVICE → UP en :8001</a:t>
            </a:r>
            <a:endParaRPr lang="en-US" sz="1300" dirty="0"/>
          </a:p>
        </p:txBody>
      </p:sp>
      <p:sp>
        <p:nvSpPr>
          <p:cNvPr id="10" name="Text 7"/>
          <p:cNvSpPr/>
          <p:nvPr/>
        </p:nvSpPr>
        <p:spPr>
          <a:xfrm>
            <a:off x="8369300" y="3856989"/>
            <a:ext cx="3100197"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663"/>
                </a:solidFill>
                <a:latin typeface="IBM Plex Sans" pitchFamily="34" charset="0"/>
                <a:ea typeface="IBM Plex Sans" pitchFamily="34" charset="-122"/>
                <a:cs typeface="IBM Plex Sans" pitchFamily="34" charset="-120"/>
              </a:rPr>
              <a:t>El nombre registrado es el spring.application.name de cada servicio.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71B"/>
                </a:solidFill>
                <a:latin typeface="JetBrains Mono" pitchFamily="49" charset="0"/>
                <a:ea typeface="JetBrains Mono" pitchFamily="49" charset="-122"/>
                <a:cs typeface="JetBrains Mono" pitchFamily="49" charset="-120"/>
              </a:rPr>
              <a:t>PARTE 1 · DEMOSTRACIÓN</a:t>
            </a:r>
            <a:endParaRPr lang="en-US" sz="1200" dirty="0"/>
          </a:p>
        </p:txBody>
      </p:sp>
      <p:sp>
        <p:nvSpPr>
          <p:cNvPr id="3" name="Text 1"/>
          <p:cNvSpPr/>
          <p:nvPr>
            <p:ph type="title"/>
          </p:nvPr>
        </p:nvSpPr>
        <p:spPr>
          <a:xfrm>
            <a:off x="812800" y="11785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02B"/>
                </a:solidFill>
                <a:latin typeface="IBM Plex Sans" pitchFamily="34" charset="0"/>
                <a:ea typeface="IBM Plex Sans" pitchFamily="34" charset="-122"/>
                <a:cs typeface="IBM Plex Sans" pitchFamily="34" charset="-120"/>
              </a:rPr>
              <a:t>El catálogo responde con datos del servicio de cursos</a:t>
            </a:r>
            <a:endParaRPr lang="en-US" sz="3200" dirty="0"/>
          </a:p>
        </p:txBody>
      </p:sp>
      <p:sp>
        <p:nvSpPr>
          <p:cNvPr id="4" name="Text 2"/>
          <p:cNvSpPr/>
          <p:nvPr/>
        </p:nvSpPr>
        <p:spPr>
          <a:xfrm>
            <a:off x="812800" y="1828800"/>
            <a:ext cx="53108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B0"/>
                </a:solidFill>
                <a:latin typeface="JetBrains Mono" pitchFamily="49" charset="0"/>
                <a:ea typeface="JetBrains Mono" pitchFamily="49" charset="-122"/>
                <a:cs typeface="JetBrains Mono" pitchFamily="49" charset="-120"/>
              </a:rPr>
              <a:t>localhost:8002/ → GET /</a:t>
            </a:r>
            <a:endParaRPr lang="en-US" sz="1200" dirty="0"/>
          </a:p>
        </p:txBody>
      </p:sp>
      <p:sp>
        <p:nvSpPr>
          <p:cNvPr id="5" name="Shape 3"/>
          <p:cNvSpPr/>
          <p:nvPr/>
        </p:nvSpPr>
        <p:spPr>
          <a:xfrm>
            <a:off x="812800" y="2118361"/>
            <a:ext cx="5029200" cy="1428750"/>
          </a:xfrm>
          <a:prstGeom prst="roundRect">
            <a:avLst>
              <a:gd name="adj" fmla="val 5333"/>
            </a:avLst>
          </a:prstGeom>
          <a:solidFill>
            <a:srgbClr val="FFFFFF"/>
          </a:solidFill>
          <a:ln/>
        </p:spPr>
      </p:sp>
      <p:pic>
        <p:nvPicPr>
          <p:cNvPr id="6" name="Image 0" descr="localhost:8002 responde: Welcome to FutureX Course Catalog Course App Home">    </p:cNvPr>
          <p:cNvPicPr>
            <a:picLocks noChangeAspect="1"/>
          </p:cNvPicPr>
          <p:nvPr/>
        </p:nvPicPr>
        <p:blipFill>
          <a:blip r:embed="rId1"/>
          <a:srcRect l="-277" r="-277" t="0" b="0"/>
          <a:stretch/>
        </p:blipFill>
        <p:spPr>
          <a:xfrm>
            <a:off x="819150" y="2124711"/>
            <a:ext cx="5016500" cy="1416050"/>
          </a:xfrm>
          <a:prstGeom prst="roundRect">
            <a:avLst>
              <a:gd name="adj" fmla="val 4933"/>
            </a:avLst>
          </a:prstGeom>
        </p:spPr>
      </p:pic>
      <p:sp>
        <p:nvSpPr>
          <p:cNvPr id="7" name="Shape 4"/>
          <p:cNvSpPr/>
          <p:nvPr/>
        </p:nvSpPr>
        <p:spPr>
          <a:xfrm>
            <a:off x="815975" y="2121536"/>
            <a:ext cx="5022850" cy="1422400"/>
          </a:xfrm>
          <a:prstGeom prst="roundRect">
            <a:avLst>
              <a:gd name="adj" fmla="val 5134"/>
            </a:avLst>
          </a:prstGeom>
          <a:noFill/>
          <a:ln w="6350">
            <a:solidFill>
              <a:srgbClr val="D5D1C6"/>
            </a:solidFill>
            <a:prstDash val="solid"/>
          </a:ln>
        </p:spPr>
      </p:sp>
      <p:sp>
        <p:nvSpPr>
          <p:cNvPr id="8" name="Text 5"/>
          <p:cNvSpPr/>
          <p:nvPr/>
        </p:nvSpPr>
        <p:spPr>
          <a:xfrm>
            <a:off x="6223000" y="1828800"/>
            <a:ext cx="53108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B0"/>
                </a:solidFill>
                <a:latin typeface="JetBrains Mono" pitchFamily="49" charset="0"/>
                <a:ea typeface="JetBrains Mono" pitchFamily="49" charset="-122"/>
                <a:cs typeface="JetBrains Mono" pitchFamily="49" charset="-120"/>
              </a:rPr>
              <a:t>localhost:8002/firstcourse → GET /1</a:t>
            </a:r>
            <a:endParaRPr lang="en-US" sz="1200" dirty="0"/>
          </a:p>
        </p:txBody>
      </p:sp>
      <p:sp>
        <p:nvSpPr>
          <p:cNvPr id="9" name="Shape 6"/>
          <p:cNvSpPr/>
          <p:nvPr/>
        </p:nvSpPr>
        <p:spPr>
          <a:xfrm>
            <a:off x="6223000" y="2118361"/>
            <a:ext cx="5029200" cy="1428750"/>
          </a:xfrm>
          <a:prstGeom prst="roundRect">
            <a:avLst>
              <a:gd name="adj" fmla="val 5333"/>
            </a:avLst>
          </a:prstGeom>
          <a:solidFill>
            <a:srgbClr val="FFFFFF"/>
          </a:solidFill>
          <a:ln/>
        </p:spPr>
      </p:sp>
      <p:pic>
        <p:nvPicPr>
          <p:cNvPr id="10" name="Image 1" descr="localhost:8002/firstcourse responde: Our first course is Spring Boot Fundamentals">    </p:cNvPr>
          <p:cNvPicPr>
            <a:picLocks noChangeAspect="1"/>
          </p:cNvPicPr>
          <p:nvPr/>
        </p:nvPicPr>
        <p:blipFill>
          <a:blip r:embed="rId2"/>
          <a:stretch>
            <a:fillRect/>
          </a:stretch>
        </p:blipFill>
        <p:spPr>
          <a:xfrm>
            <a:off x="6229350" y="2192492"/>
            <a:ext cx="5016500" cy="1280488"/>
          </a:xfrm>
          <a:custGeom>
            <a:avLst/>
            <a:gdLst/>
            <a:ahLst/>
            <a:cxnLst/>
            <a:rect l="l" t="t" r="r" b="b"/>
            <a:pathLst>
              <a:path w="5016500" h="1280488">
                <a:moveTo>
                  <a:pt x="0" y="2069"/>
                </a:moveTo>
                <a:arcTo wR="69850" hR="69850" stAng="10800000" swAng="101843"/>
                <a:lnTo>
                  <a:pt x="5016469" y="0"/>
                </a:lnTo>
                <a:arcTo wR="69850" hR="69850" stAng="21498157" swAng="101843"/>
                <a:lnTo>
                  <a:pt x="5016500" y="1278419"/>
                </a:lnTo>
                <a:arcTo wR="69850" hR="69850" stAng="0" swAng="101843"/>
                <a:lnTo>
                  <a:pt x="31" y="1280488"/>
                </a:lnTo>
                <a:arcTo wR="69850" hR="69850" stAng="10698157" swAng="101843"/>
                <a:close/>
              </a:path>
            </a:pathLst>
          </a:custGeom>
        </p:spPr>
      </p:pic>
      <p:sp>
        <p:nvSpPr>
          <p:cNvPr id="11" name="Shape 7"/>
          <p:cNvSpPr/>
          <p:nvPr/>
        </p:nvSpPr>
        <p:spPr>
          <a:xfrm>
            <a:off x="6226175" y="2121536"/>
            <a:ext cx="5022850" cy="1422400"/>
          </a:xfrm>
          <a:prstGeom prst="roundRect">
            <a:avLst>
              <a:gd name="adj" fmla="val 5134"/>
            </a:avLst>
          </a:prstGeom>
          <a:noFill/>
          <a:ln w="6350">
            <a:solidFill>
              <a:srgbClr val="D5D1C6"/>
            </a:solidFill>
            <a:prstDash val="solid"/>
          </a:ln>
        </p:spPr>
      </p:sp>
      <p:sp>
        <p:nvSpPr>
          <p:cNvPr id="12" name="Text 8"/>
          <p:cNvSpPr/>
          <p:nvPr/>
        </p:nvSpPr>
        <p:spPr>
          <a:xfrm>
            <a:off x="812800" y="367411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B0"/>
                </a:solidFill>
                <a:latin typeface="JetBrains Mono" pitchFamily="49" charset="0"/>
                <a:ea typeface="JetBrains Mono" pitchFamily="49" charset="-122"/>
                <a:cs typeface="JetBrains Mono" pitchFamily="49" charset="-120"/>
              </a:rPr>
              <a:t>localhost:8002/catalog → GET /courses</a:t>
            </a:r>
            <a:endParaRPr lang="en-US" sz="1200" dirty="0"/>
          </a:p>
        </p:txBody>
      </p:sp>
      <p:sp>
        <p:nvSpPr>
          <p:cNvPr id="13" name="Shape 9"/>
          <p:cNvSpPr/>
          <p:nvPr/>
        </p:nvSpPr>
        <p:spPr>
          <a:xfrm>
            <a:off x="812800" y="4014471"/>
            <a:ext cx="10566400" cy="1358900"/>
          </a:xfrm>
          <a:prstGeom prst="roundRect">
            <a:avLst>
              <a:gd name="adj" fmla="val 5607"/>
            </a:avLst>
          </a:prstGeom>
          <a:solidFill>
            <a:srgbClr val="FFFFFF"/>
          </a:solidFill>
          <a:ln/>
        </p:spPr>
      </p:sp>
      <p:pic>
        <p:nvPicPr>
          <p:cNvPr id="14" name="Image 2" descr="localhost:8002/catalog responde Our courses are con los tres cursos en JSON: Spring Boot Fundamentals, Advanced Java Programming y Microservices Architecture">    </p:cNvPr>
          <p:cNvPicPr>
            <a:picLocks noChangeAspect="1"/>
          </p:cNvPicPr>
          <p:nvPr/>
        </p:nvPicPr>
        <p:blipFill>
          <a:blip r:embed="rId3"/>
          <a:srcRect l="-301" r="-301" t="0" b="0"/>
          <a:stretch/>
        </p:blipFill>
        <p:spPr>
          <a:xfrm>
            <a:off x="819150" y="4020821"/>
            <a:ext cx="10553700" cy="1346200"/>
          </a:xfrm>
          <a:prstGeom prst="roundRect">
            <a:avLst>
              <a:gd name="adj" fmla="val 5189"/>
            </a:avLst>
          </a:prstGeom>
        </p:spPr>
      </p:pic>
      <p:sp>
        <p:nvSpPr>
          <p:cNvPr id="15" name="Shape 10"/>
          <p:cNvSpPr/>
          <p:nvPr/>
        </p:nvSpPr>
        <p:spPr>
          <a:xfrm>
            <a:off x="815975" y="4017646"/>
            <a:ext cx="10560050" cy="1352550"/>
          </a:xfrm>
          <a:prstGeom prst="roundRect">
            <a:avLst>
              <a:gd name="adj" fmla="val 5399"/>
            </a:avLst>
          </a:prstGeom>
          <a:noFill/>
          <a:ln w="6350">
            <a:solidFill>
              <a:srgbClr val="D5D1C6"/>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B5571B"/>
        </a:solidFill>
      </p:bgPr>
    </p:bg>
    <p:spTree>
      <p:nvGrpSpPr>
        <p:cNvPr id="1" name=""/>
        <p:cNvGrpSpPr/>
        <p:nvPr/>
      </p:nvGrpSpPr>
      <p:grpSpPr>
        <a:xfrm>
          <a:off x="0" y="0"/>
          <a:ext cx="0" cy="0"/>
          <a:chOff x="0" y="0"/>
          <a:chExt cx="0" cy="0"/>
        </a:xfrm>
      </p:grpSpPr>
      <p:sp>
        <p:nvSpPr>
          <p:cNvPr id="2" name="Text 0"/>
          <p:cNvSpPr/>
          <p:nvPr/>
        </p:nvSpPr>
        <p:spPr>
          <a:xfrm>
            <a:off x="812800" y="1831975"/>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BE3CF"/>
                </a:solidFill>
                <a:latin typeface="JetBrains Mono" pitchFamily="49" charset="0"/>
                <a:ea typeface="JetBrains Mono" pitchFamily="49" charset="-122"/>
                <a:cs typeface="JetBrains Mono" pitchFamily="49" charset="-120"/>
              </a:rPr>
              <a:t>PARTE 2 · EL PROBLEMA</a:t>
            </a:r>
            <a:endParaRPr lang="en-US" sz="1400" dirty="0"/>
          </a:p>
        </p:txBody>
      </p:sp>
      <p:sp>
        <p:nvSpPr>
          <p:cNvPr id="3" name="Text 1"/>
          <p:cNvSpPr/>
          <p:nvPr>
            <p:ph type="title"/>
          </p:nvPr>
        </p:nvSpPr>
        <p:spPr>
          <a:xfrm>
            <a:off x="812800" y="2385696"/>
            <a:ext cx="10883392" cy="13665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BF4EC"/>
                </a:solidFill>
                <a:latin typeface="IBM Plex Sans" pitchFamily="34" charset="0"/>
                <a:ea typeface="IBM Plex Sans" pitchFamily="34" charset="-122"/>
                <a:cs typeface="IBM Plex Sans" pitchFamily="34" charset="-120"/>
              </a:rPr>
              <a:t>Si fx-course-service cae, el catálogo cae con él.</a:t>
            </a:r>
            <a:endParaRPr lang="en-US" sz="4800" dirty="0"/>
          </a:p>
        </p:txBody>
      </p:sp>
      <p:sp>
        <p:nvSpPr>
          <p:cNvPr id="4" name="Text 2"/>
          <p:cNvSpPr/>
          <p:nvPr/>
        </p:nvSpPr>
        <p:spPr>
          <a:xfrm>
            <a:off x="812800" y="4031614"/>
            <a:ext cx="9156700" cy="1019810"/>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FBE3CF"/>
                </a:solidFill>
                <a:latin typeface="IBM Plex Sans" pitchFamily="34" charset="0"/>
                <a:ea typeface="IBM Plex Sans" pitchFamily="34" charset="-122"/>
                <a:cs typeface="IBM Plex Sans" pitchFamily="34" charset="-120"/>
              </a:rPr>
              <a:t>Sin protección, cada petición al catálogo espera a un servicio que no responde, acumula hilos bloqueados y devuelve un error 500 al usuario. El fallo se propaga en cascada.</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71B"/>
                </a:solidFill>
                <a:latin typeface="JetBrains Mono" pitchFamily="49" charset="0"/>
                <a:ea typeface="JetBrains Mono" pitchFamily="49" charset="-122"/>
                <a:cs typeface="JetBrains Mono" pitchFamily="49" charset="-120"/>
              </a:rPr>
              <a:t>PARTE 2 · CIRCUIT BREAKER</a:t>
            </a:r>
            <a:endParaRPr lang="en-US" sz="1200" dirty="0"/>
          </a:p>
        </p:txBody>
      </p:sp>
      <p:sp>
        <p:nvSpPr>
          <p:cNvPr id="3" name="Text 1"/>
          <p:cNvSpPr/>
          <p:nvPr>
            <p:ph type="title"/>
          </p:nvPr>
        </p:nvSpPr>
        <p:spPr>
          <a:xfrm>
            <a:off x="812800" y="11785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02B"/>
                </a:solidFill>
                <a:latin typeface="IBM Plex Sans" pitchFamily="34" charset="0"/>
                <a:ea typeface="IBM Plex Sans" pitchFamily="34" charset="-122"/>
                <a:cs typeface="IBM Plex Sans" pitchFamily="34" charset="-120"/>
              </a:rPr>
              <a:t>Tres estados, como un interruptor eléctrico</a:t>
            </a:r>
            <a:endParaRPr lang="en-US" sz="3200" dirty="0"/>
          </a:p>
        </p:txBody>
      </p:sp>
      <p:sp>
        <p:nvSpPr>
          <p:cNvPr id="4" name="Shape 2"/>
          <p:cNvSpPr/>
          <p:nvPr/>
        </p:nvSpPr>
        <p:spPr>
          <a:xfrm>
            <a:off x="822325" y="2422525"/>
            <a:ext cx="2901950" cy="1250950"/>
          </a:xfrm>
          <a:prstGeom prst="roundRect">
            <a:avLst>
              <a:gd name="adj" fmla="val 7360"/>
            </a:avLst>
          </a:prstGeom>
          <a:solidFill>
            <a:srgbClr val="FFFFFF"/>
          </a:solidFill>
          <a:ln w="19050">
            <a:solidFill>
              <a:srgbClr val="2F6FB0"/>
            </a:solidFill>
            <a:prstDash val="solid"/>
          </a:ln>
        </p:spPr>
      </p:sp>
      <p:sp>
        <p:nvSpPr>
          <p:cNvPr id="5" name="Text 3"/>
          <p:cNvSpPr/>
          <p:nvPr/>
        </p:nvSpPr>
        <p:spPr>
          <a:xfrm>
            <a:off x="1005840" y="2606039"/>
            <a:ext cx="261096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F6FB0"/>
                </a:solidFill>
                <a:latin typeface="JetBrains Mono" pitchFamily="49" charset="0"/>
                <a:ea typeface="JetBrains Mono" pitchFamily="49" charset="-122"/>
                <a:cs typeface="JetBrains Mono" pitchFamily="49" charset="-120"/>
              </a:rPr>
              <a:t>CLOSED</a:t>
            </a:r>
            <a:endParaRPr lang="en-US" sz="2000" dirty="0"/>
          </a:p>
        </p:txBody>
      </p:sp>
      <p:sp>
        <p:nvSpPr>
          <p:cNvPr id="6" name="Text 4"/>
          <p:cNvSpPr/>
          <p:nvPr/>
        </p:nvSpPr>
        <p:spPr>
          <a:xfrm>
            <a:off x="1005840" y="3025139"/>
            <a:ext cx="2610968"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663"/>
                </a:solidFill>
                <a:latin typeface="IBM Plex Sans" pitchFamily="34" charset="0"/>
                <a:ea typeface="IBM Plex Sans" pitchFamily="34" charset="-122"/>
                <a:cs typeface="IBM Plex Sans" pitchFamily="34" charset="-120"/>
              </a:rPr>
              <a:t>Todas las llamadas pasan. Se cuentan éxitos y fallos.</a:t>
            </a:r>
            <a:endParaRPr lang="en-US" sz="1300" dirty="0"/>
          </a:p>
        </p:txBody>
      </p:sp>
      <p:sp>
        <p:nvSpPr>
          <p:cNvPr id="7" name="Shape 5"/>
          <p:cNvSpPr/>
          <p:nvPr/>
        </p:nvSpPr>
        <p:spPr>
          <a:xfrm>
            <a:off x="8458200" y="2413000"/>
            <a:ext cx="2921000" cy="1270000"/>
          </a:xfrm>
          <a:prstGeom prst="roundRect">
            <a:avLst>
              <a:gd name="adj" fmla="val 8000"/>
            </a:avLst>
          </a:prstGeom>
          <a:solidFill>
            <a:srgbClr val="13202B"/>
          </a:solidFill>
          <a:ln/>
        </p:spPr>
      </p:sp>
      <p:sp>
        <p:nvSpPr>
          <p:cNvPr id="8" name="Text 6"/>
          <p:cNvSpPr/>
          <p:nvPr/>
        </p:nvSpPr>
        <p:spPr>
          <a:xfrm>
            <a:off x="8636000" y="2590800"/>
            <a:ext cx="264236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0A35E"/>
                </a:solidFill>
                <a:latin typeface="JetBrains Mono" pitchFamily="49" charset="0"/>
                <a:ea typeface="JetBrains Mono" pitchFamily="49" charset="-122"/>
                <a:cs typeface="JetBrains Mono" pitchFamily="49" charset="-120"/>
              </a:rPr>
              <a:t>OPEN</a:t>
            </a:r>
            <a:endParaRPr lang="en-US" sz="2000" dirty="0"/>
          </a:p>
        </p:txBody>
      </p:sp>
      <p:sp>
        <p:nvSpPr>
          <p:cNvPr id="9" name="Text 7"/>
          <p:cNvSpPr/>
          <p:nvPr/>
        </p:nvSpPr>
        <p:spPr>
          <a:xfrm>
            <a:off x="8636000" y="3009900"/>
            <a:ext cx="2642362"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5DCE2"/>
                </a:solidFill>
                <a:latin typeface="IBM Plex Sans" pitchFamily="34" charset="0"/>
                <a:ea typeface="IBM Plex Sans" pitchFamily="34" charset="-122"/>
                <a:cs typeface="IBM Plex Sans" pitchFamily="34" charset="-120"/>
              </a:rPr>
              <a:t>No se llama al servicio: fallback inmediato.</a:t>
            </a:r>
            <a:endParaRPr lang="en-US" sz="1300" dirty="0"/>
          </a:p>
        </p:txBody>
      </p:sp>
      <p:sp>
        <p:nvSpPr>
          <p:cNvPr id="10" name="Shape 8"/>
          <p:cNvSpPr/>
          <p:nvPr/>
        </p:nvSpPr>
        <p:spPr>
          <a:xfrm>
            <a:off x="4327525" y="4581525"/>
            <a:ext cx="3536950" cy="1250950"/>
          </a:xfrm>
          <a:prstGeom prst="roundRect">
            <a:avLst>
              <a:gd name="adj" fmla="val 7360"/>
            </a:avLst>
          </a:prstGeom>
          <a:solidFill>
            <a:srgbClr val="FFFFFF"/>
          </a:solidFill>
          <a:ln w="19050">
            <a:solidFill>
              <a:srgbClr val="B5571B"/>
            </a:solidFill>
            <a:prstDash val="dash"/>
          </a:ln>
        </p:spPr>
      </p:sp>
      <p:sp>
        <p:nvSpPr>
          <p:cNvPr id="11" name="Text 9"/>
          <p:cNvSpPr/>
          <p:nvPr/>
        </p:nvSpPr>
        <p:spPr>
          <a:xfrm>
            <a:off x="4511040" y="4765042"/>
            <a:ext cx="326501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5571B"/>
                </a:solidFill>
                <a:latin typeface="JetBrains Mono" pitchFamily="49" charset="0"/>
                <a:ea typeface="JetBrains Mono" pitchFamily="49" charset="-122"/>
                <a:cs typeface="JetBrains Mono" pitchFamily="49" charset="-120"/>
              </a:rPr>
              <a:t>HALF_OPEN</a:t>
            </a:r>
            <a:endParaRPr lang="en-US" sz="2000" dirty="0"/>
          </a:p>
        </p:txBody>
      </p:sp>
      <p:sp>
        <p:nvSpPr>
          <p:cNvPr id="12" name="Text 10"/>
          <p:cNvSpPr/>
          <p:nvPr/>
        </p:nvSpPr>
        <p:spPr>
          <a:xfrm>
            <a:off x="4511040" y="5184142"/>
            <a:ext cx="3265018"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663"/>
                </a:solidFill>
                <a:latin typeface="IBM Plex Sans" pitchFamily="34" charset="0"/>
                <a:ea typeface="IBM Plex Sans" pitchFamily="34" charset="-122"/>
                <a:cs typeface="IBM Plex Sans" pitchFamily="34" charset="-120"/>
              </a:rPr>
              <a:t>3 llamadas de prueba. Si fallan ≥ 50 %, vuelve a OPEN.</a:t>
            </a:r>
            <a:endParaRPr lang="en-US" sz="1300" dirty="0"/>
          </a:p>
        </p:txBody>
      </p:sp>
      <p:pic>
        <p:nvPicPr>
          <p:cNvPr id="13" name="Image 0" descr="connector">    </p:cNvPr>
          <p:cNvPicPr>
            <a:picLocks noChangeAspect="1"/>
          </p:cNvPicPr>
          <p:nvPr/>
        </p:nvPicPr>
        <p:blipFill>
          <a:blip r:embed="rId1"/>
          <a:srcRect l="0" r="0" t="0" b="0"/>
          <a:stretch/>
        </p:blipFill>
        <p:spPr>
          <a:xfrm>
            <a:off x="3670300" y="2921000"/>
            <a:ext cx="4851400" cy="127000"/>
          </a:xfrm>
          <a:prstGeom prst="rect">
            <a:avLst/>
          </a:prstGeom>
        </p:spPr>
      </p:pic>
      <p:sp>
        <p:nvSpPr>
          <p:cNvPr id="14" name="Text 11"/>
          <p:cNvSpPr/>
          <p:nvPr/>
        </p:nvSpPr>
        <p:spPr>
          <a:xfrm>
            <a:off x="3872230" y="2540000"/>
            <a:ext cx="4447540"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3202B"/>
                </a:solidFill>
                <a:latin typeface="IBM Plex Sans" pitchFamily="34" charset="0"/>
                <a:ea typeface="IBM Plex Sans" pitchFamily="34" charset="-122"/>
                <a:cs typeface="IBM Plex Sans" pitchFamily="34" charset="-120"/>
              </a:rPr>
              <a:t>≥ 50 % de fallos</a:t>
            </a:r>
            <a:r>
              <a:rPr lang="en-US" sz="1300" dirty="0">
                <a:solidFill>
                  <a:srgbClr val="13202B"/>
                </a:solidFill>
                <a:latin typeface="IBM Plex Sans" pitchFamily="34" charset="0"/>
                <a:ea typeface="IBM Plex Sans" pitchFamily="34" charset="-122"/>
                <a:cs typeface="IBM Plex Sans" pitchFamily="34" charset="-120"/>
              </a:rPr>
              <a:t> (mín. 5 llamadas)</a:t>
            </a:r>
            <a:endParaRPr lang="en-US" sz="1300" dirty="0"/>
          </a:p>
        </p:txBody>
      </p:sp>
      <p:pic>
        <p:nvPicPr>
          <p:cNvPr id="15" name="Image 1" descr="connector">    </p:cNvPr>
          <p:cNvPicPr>
            <a:picLocks noChangeAspect="1"/>
          </p:cNvPicPr>
          <p:nvPr/>
        </p:nvPicPr>
        <p:blipFill>
          <a:blip r:embed="rId2"/>
          <a:srcRect l="0" r="0" t="0" b="0"/>
          <a:stretch/>
        </p:blipFill>
        <p:spPr>
          <a:xfrm>
            <a:off x="7810500" y="3619500"/>
            <a:ext cx="2159000" cy="1460500"/>
          </a:xfrm>
          <a:prstGeom prst="rect">
            <a:avLst/>
          </a:prstGeom>
        </p:spPr>
      </p:pic>
      <p:sp>
        <p:nvSpPr>
          <p:cNvPr id="16" name="Text 12"/>
          <p:cNvSpPr/>
          <p:nvPr/>
        </p:nvSpPr>
        <p:spPr>
          <a:xfrm>
            <a:off x="9144000" y="4445000"/>
            <a:ext cx="222377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B"/>
                </a:solidFill>
                <a:latin typeface="IBM Plex Sans" pitchFamily="34" charset="0"/>
                <a:ea typeface="IBM Plex Sans" pitchFamily="34" charset="-122"/>
                <a:cs typeface="IBM Plex Sans" pitchFamily="34" charset="-120"/>
              </a:rPr>
              <a:t>tras 5 s</a:t>
            </a:r>
            <a:r>
              <a:rPr lang="en-US" sz="1300" dirty="0">
                <a:solidFill>
                  <a:srgbClr val="13202B"/>
                </a:solidFill>
                <a:latin typeface="IBM Plex Sans" pitchFamily="34" charset="0"/>
                <a:ea typeface="IBM Plex Sans" pitchFamily="34" charset="-122"/>
                <a:cs typeface="IBM Plex Sans" pitchFamily="34" charset="-120"/>
              </a:rPr>
              <a:t>, automático</a:t>
            </a:r>
            <a:endParaRPr lang="en-US" sz="1300" dirty="0"/>
          </a:p>
        </p:txBody>
      </p:sp>
      <p:pic>
        <p:nvPicPr>
          <p:cNvPr id="17" name="Image 2" descr="connector">    </p:cNvPr>
          <p:cNvPicPr>
            <a:picLocks noChangeAspect="1"/>
          </p:cNvPicPr>
          <p:nvPr/>
        </p:nvPicPr>
        <p:blipFill>
          <a:blip r:embed="rId3"/>
          <a:srcRect l="0" r="0" t="0" b="0"/>
          <a:stretch/>
        </p:blipFill>
        <p:spPr>
          <a:xfrm>
            <a:off x="2222500" y="3619500"/>
            <a:ext cx="2159000" cy="1460500"/>
          </a:xfrm>
          <a:prstGeom prst="rect">
            <a:avLst/>
          </a:prstGeom>
        </p:spPr>
      </p:pic>
      <p:sp>
        <p:nvSpPr>
          <p:cNvPr id="18" name="Text 13"/>
          <p:cNvSpPr/>
          <p:nvPr/>
        </p:nvSpPr>
        <p:spPr>
          <a:xfrm>
            <a:off x="755650" y="4445000"/>
            <a:ext cx="1962150" cy="25654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FB0"/>
                </a:solidFill>
                <a:latin typeface="IBM Plex Sans" pitchFamily="34" charset="0"/>
                <a:ea typeface="IBM Plex Sans" pitchFamily="34" charset="-122"/>
                <a:cs typeface="IBM Plex Sans" pitchFamily="34" charset="-120"/>
              </a:rPr>
              <a:t>pruebas OK</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71B"/>
                </a:solidFill>
                <a:latin typeface="JetBrains Mono" pitchFamily="49" charset="0"/>
                <a:ea typeface="JetBrains Mono" pitchFamily="49" charset="-122"/>
                <a:cs typeface="JetBrains Mono" pitchFamily="49" charset="-120"/>
              </a:rPr>
              <a:t>PARTE 2 · CONFIGURACIÓN</a:t>
            </a:r>
            <a:endParaRPr lang="en-US" sz="1200" dirty="0"/>
          </a:p>
        </p:txBody>
      </p:sp>
      <p:sp>
        <p:nvSpPr>
          <p:cNvPr id="3" name="Text 1"/>
          <p:cNvSpPr/>
          <p:nvPr>
            <p:ph type="title"/>
          </p:nvPr>
        </p:nvSpPr>
        <p:spPr>
          <a:xfrm>
            <a:off x="812800" y="11785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02B"/>
                </a:solidFill>
                <a:latin typeface="IBM Plex Sans" pitchFamily="34" charset="0"/>
                <a:ea typeface="IBM Plex Sans" pitchFamily="34" charset="-122"/>
                <a:cs typeface="IBM Plex Sans" pitchFamily="34" charset="-120"/>
              </a:rPr>
              <a:t>Dependencias y propiedades de courseService</a:t>
            </a:r>
            <a:endParaRPr lang="en-US" sz="3200" dirty="0"/>
          </a:p>
        </p:txBody>
      </p:sp>
      <p:sp>
        <p:nvSpPr>
          <p:cNvPr id="4" name="Text 2"/>
          <p:cNvSpPr/>
          <p:nvPr/>
        </p:nvSpPr>
        <p:spPr>
          <a:xfrm>
            <a:off x="812800" y="1879600"/>
            <a:ext cx="451989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B"/>
                </a:solidFill>
                <a:latin typeface="IBM Plex Sans" pitchFamily="34" charset="0"/>
                <a:ea typeface="IBM Plex Sans" pitchFamily="34" charset="-122"/>
                <a:cs typeface="IBM Plex Sans" pitchFamily="34" charset="-120"/>
              </a:rPr>
              <a:t>pom.xml (fx-catalog-service)</a:t>
            </a:r>
            <a:endParaRPr lang="en-US" sz="1600" dirty="0"/>
          </a:p>
        </p:txBody>
      </p:sp>
      <p:sp>
        <p:nvSpPr>
          <p:cNvPr id="5" name="Text 3"/>
          <p:cNvSpPr/>
          <p:nvPr/>
        </p:nvSpPr>
        <p:spPr>
          <a:xfrm>
            <a:off x="812800" y="2225042"/>
            <a:ext cx="4388247" cy="1442720"/>
          </a:xfrm>
          <a:prstGeom prst="roundRect">
            <a:avLst>
              <a:gd name="adj" fmla="val 5282"/>
            </a:avLst>
          </a:prstGeom>
          <a:solidFill>
            <a:srgbClr val="13202B"/>
          </a:solidFill>
          <a:ln/>
        </p:spPr>
        <p:txBody>
          <a:bodyPr wrap="square" lIns="180882" tIns="180882" rIns="61426" bIns="155482" rtlCol="0" anchor="t">
            <a:normAutofit/>
          </a:bodyPr>
          <a:lstStyle/>
          <a:p>
            <a:pPr algn="l" indent="0" marL="0">
              <a:lnSpc>
                <a:spcPts val="2040"/>
              </a:lnSpc>
              <a:buNone/>
            </a:pPr>
            <a:r>
              <a:rPr lang="en-US" sz="1200" dirty="0">
                <a:solidFill>
                  <a:srgbClr val="E6E9EC"/>
                </a:solidFill>
                <a:latin typeface="JetBrains Mono" pitchFamily="49" charset="0"/>
                <a:ea typeface="JetBrains Mono" pitchFamily="49" charset="-122"/>
                <a:cs typeface="JetBrains Mono" pitchFamily="49" charset="-120"/>
              </a:rPr>
              <a:t>spring-cloud-starter-</a:t>
            </a:r>
            <a:endParaRPr lang="en-US" sz="1200" dirty="0"/>
          </a:p>
          <a:p>
            <a:pPr algn="l" indent="0" marL="0">
              <a:lnSpc>
                <a:spcPts val="2040"/>
              </a:lnSpc>
              <a:buNone/>
            </a:pPr>
            <a:r>
              <a:rPr lang="en-US" sz="1200" dirty="0">
                <a:solidFill>
                  <a:srgbClr val="E6E9EC"/>
                </a:solidFill>
                <a:latin typeface="JetBrains Mono" pitchFamily="49" charset="0"/>
                <a:ea typeface="JetBrains Mono" pitchFamily="49" charset="-122"/>
                <a:cs typeface="JetBrains Mono" pitchFamily="49" charset="-120"/>
              </a:rPr>
              <a:t>  circuitbreaker-resilience4j</a:t>
            </a:r>
            <a:endParaRPr lang="en-US" sz="1200" dirty="0"/>
          </a:p>
          <a:p>
            <a:pPr algn="l" indent="0" marL="0">
              <a:lnSpc>
                <a:spcPts val="2040"/>
              </a:lnSpc>
              <a:buNone/>
            </a:pPr>
            <a:r>
              <a:rPr lang="en-US" sz="1200" dirty="0">
                <a:solidFill>
                  <a:srgbClr val="E6E9EC"/>
                </a:solidFill>
                <a:latin typeface="JetBrains Mono" pitchFamily="49" charset="0"/>
                <a:ea typeface="JetBrains Mono" pitchFamily="49" charset="-122"/>
                <a:cs typeface="JetBrains Mono" pitchFamily="49" charset="-120"/>
              </a:rPr>
              <a:t>spring-boot-starter-aop</a:t>
            </a:r>
            <a:endParaRPr lang="en-US" sz="1200" dirty="0"/>
          </a:p>
          <a:p>
            <a:pPr algn="l" indent="0" marL="0">
              <a:lnSpc>
                <a:spcPts val="2040"/>
              </a:lnSpc>
              <a:buNone/>
            </a:pPr>
            <a:r>
              <a:rPr lang="en-US" sz="1200" dirty="0">
                <a:solidFill>
                  <a:srgbClr val="E6E9EC"/>
                </a:solidFill>
                <a:latin typeface="JetBrains Mono" pitchFamily="49" charset="0"/>
                <a:ea typeface="JetBrains Mono" pitchFamily="49" charset="-122"/>
                <a:cs typeface="JetBrains Mono" pitchFamily="49" charset="-120"/>
              </a:rPr>
              <a:t>spring-boot-starter-actuator</a:t>
            </a:r>
            <a:endParaRPr lang="en-US" sz="1200" dirty="0"/>
          </a:p>
        </p:txBody>
      </p:sp>
      <p:sp>
        <p:nvSpPr>
          <p:cNvPr id="6" name="Text 4"/>
          <p:cNvSpPr/>
          <p:nvPr/>
        </p:nvSpPr>
        <p:spPr>
          <a:xfrm>
            <a:off x="812800" y="3769364"/>
            <a:ext cx="4388247" cy="1767840"/>
          </a:xfrm>
          <a:prstGeom prst="roundRect">
            <a:avLst>
              <a:gd name="adj" fmla="val 4310"/>
            </a:avLst>
          </a:prstGeom>
          <a:solidFill>
            <a:srgbClr val="13202B"/>
          </a:solidFill>
          <a:ln/>
        </p:spPr>
        <p:txBody>
          <a:bodyPr wrap="square" lIns="180882" tIns="130082" rIns="61426" bIns="104682" rtlCol="0" anchor="t">
            <a:normAutofit/>
          </a:bodyPr>
          <a:lstStyle/>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management.health.</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circuitbreakers.enabled=true</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management.endpoints.web.</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exposure.include=health</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management.endpoint.health.</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show-details=always</a:t>
            </a:r>
            <a:endParaRPr lang="en-US" sz="1200" dirty="0"/>
          </a:p>
        </p:txBody>
      </p:sp>
      <p:sp>
        <p:nvSpPr>
          <p:cNvPr id="7" name="Text 5"/>
          <p:cNvSpPr/>
          <p:nvPr/>
        </p:nvSpPr>
        <p:spPr>
          <a:xfrm>
            <a:off x="5455047" y="1879600"/>
            <a:ext cx="610187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B"/>
                </a:solidFill>
                <a:latin typeface="IBM Plex Sans" pitchFamily="34" charset="0"/>
                <a:ea typeface="IBM Plex Sans" pitchFamily="34" charset="-122"/>
                <a:cs typeface="IBM Plex Sans" pitchFamily="34" charset="-120"/>
              </a:rPr>
              <a:t>resilience4j…instances.courseService.*</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65207" y="2235202"/>
          <a:ext cx="5913993" cy="2971800"/>
        </p:xfrm>
        <a:graphic>
          <a:graphicData uri="http://schemas.openxmlformats.org/drawingml/2006/table">
            <a:tbl>
              <a:tblPr/>
              <a:tblGrid>
                <a:gridCol w="4258075"/>
                <a:gridCol w="1655918"/>
              </a:tblGrid>
              <a:tr h="330200">
                <a:tc>
                  <a:txBody>
                    <a:bodyPr/>
                    <a:lstStyle/>
                    <a:p>
                      <a:pPr indent="0" marL="0">
                        <a:lnSpc>
                          <a:spcPts val="1680"/>
                        </a:lnSpc>
                        <a:buNone/>
                      </a:pPr>
                      <a:r>
                        <a:rPr lang="en-US" sz="1200" b="1" dirty="0">
                          <a:solidFill>
                            <a:srgbClr val="13202B"/>
                          </a:solidFill>
                          <a:latin typeface="IBM Plex Sans" pitchFamily="34" charset="0"/>
                          <a:ea typeface="IBM Plex Sans" pitchFamily="34" charset="-122"/>
                          <a:cs typeface="IBM Plex Sans" pitchFamily="34" charset="-120"/>
                        </a:rPr>
                        <a:t>Propiedad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680"/>
                        </a:lnSpc>
                        <a:buNone/>
                      </a:pPr>
                      <a:r>
                        <a:rPr lang="en-US" sz="1200" b="1" dirty="0">
                          <a:solidFill>
                            <a:srgbClr val="13202B"/>
                          </a:solidFill>
                          <a:latin typeface="IBM Plex Sans" pitchFamily="34" charset="0"/>
                          <a:ea typeface="IBM Plex Sans" pitchFamily="34" charset="-122"/>
                          <a:cs typeface="IBM Plex Sans" pitchFamily="34" charset="-120"/>
                        </a:rPr>
                        <a:t>Valor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r>
              <a:tr h="330200">
                <a:tc>
                  <a:txBody>
                    <a:bodyPr/>
                    <a:lstStyle/>
                    <a:p>
                      <a:pPr indent="0" marL="0">
                        <a:lnSpc>
                          <a:spcPts val="1680"/>
                        </a:lnSpc>
                        <a:buNone/>
                      </a:pPr>
                      <a:r>
                        <a:rPr lang="en-US" sz="1200" dirty="0">
                          <a:solidFill>
                            <a:srgbClr val="13202B"/>
                          </a:solidFill>
                          <a:latin typeface="IBM Plex Sans" pitchFamily="34" charset="0"/>
                          <a:ea typeface="IBM Plex Sans" pitchFamily="34" charset="-122"/>
                          <a:cs typeface="IBM Plex Sans" pitchFamily="34" charset="-120"/>
                        </a:rPr>
                        <a:t>slidingWindowSize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3202B"/>
                          </a:solidFill>
                          <a:latin typeface="IBM Plex Sans" pitchFamily="34" charset="0"/>
                          <a:ea typeface="IBM Plex Sans" pitchFamily="34" charset="-122"/>
                          <a:cs typeface="IBM Plex Sans" pitchFamily="34" charset="-120"/>
                        </a:rPr>
                        <a:t>10 llamadas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3202B"/>
                          </a:solidFill>
                          <a:latin typeface="IBM Plex Sans" pitchFamily="34" charset="0"/>
                          <a:ea typeface="IBM Plex Sans" pitchFamily="34" charset="-122"/>
                          <a:cs typeface="IBM Plex Sans" pitchFamily="34" charset="-120"/>
                        </a:rPr>
                        <a:t>minimumNumberOfCalls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3202B"/>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3202B"/>
                          </a:solidFill>
                          <a:latin typeface="IBM Plex Sans" pitchFamily="34" charset="0"/>
                          <a:ea typeface="IBM Plex Sans" pitchFamily="34" charset="-122"/>
                          <a:cs typeface="IBM Plex Sans" pitchFamily="34" charset="-120"/>
                        </a:rPr>
                        <a:t>failureRateThreshold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3202B"/>
                          </a:solidFill>
                          <a:latin typeface="IBM Plex Sans" pitchFamily="34" charset="0"/>
                          <a:ea typeface="IBM Plex Sans" pitchFamily="34" charset="-122"/>
                          <a:cs typeface="IBM Plex Sans" pitchFamily="34" charset="-120"/>
                        </a:rPr>
                        <a:t>50 %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3202B"/>
                          </a:solidFill>
                          <a:latin typeface="IBM Plex Sans" pitchFamily="34" charset="0"/>
                          <a:ea typeface="IBM Plex Sans" pitchFamily="34" charset="-122"/>
                          <a:cs typeface="IBM Plex Sans" pitchFamily="34" charset="-120"/>
                        </a:rPr>
                        <a:t>waitDurationInOpenState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3202B"/>
                          </a:solidFill>
                          <a:latin typeface="IBM Plex Sans" pitchFamily="34" charset="0"/>
                          <a:ea typeface="IBM Plex Sans" pitchFamily="34" charset="-122"/>
                          <a:cs typeface="IBM Plex Sans" pitchFamily="34" charset="-120"/>
                        </a:rPr>
                        <a:t>5 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3202B"/>
                          </a:solidFill>
                          <a:latin typeface="IBM Plex Sans" pitchFamily="34" charset="0"/>
                          <a:ea typeface="IBM Plex Sans" pitchFamily="34" charset="-122"/>
                          <a:cs typeface="IBM Plex Sans" pitchFamily="34" charset="-120"/>
                        </a:rPr>
                        <a:t>automaticTransitionFromOpenToHalfOpenEnabled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3202B"/>
                          </a:solidFill>
                          <a:latin typeface="IBM Plex Sans" pitchFamily="34" charset="0"/>
                          <a:ea typeface="IBM Plex Sans" pitchFamily="34" charset="-122"/>
                          <a:cs typeface="IBM Plex Sans" pitchFamily="34" charset="-120"/>
                        </a:rPr>
                        <a:t>true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3202B"/>
                          </a:solidFill>
                          <a:latin typeface="IBM Plex Sans" pitchFamily="34" charset="0"/>
                          <a:ea typeface="IBM Plex Sans" pitchFamily="34" charset="-122"/>
                          <a:cs typeface="IBM Plex Sans" pitchFamily="34" charset="-120"/>
                        </a:rPr>
                        <a:t>permittedNumberOfCallsInHalfOpenState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3202B"/>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3202B"/>
                          </a:solidFill>
                          <a:latin typeface="IBM Plex Sans" pitchFamily="34" charset="0"/>
                          <a:ea typeface="IBM Plex Sans" pitchFamily="34" charset="-122"/>
                          <a:cs typeface="IBM Plex Sans" pitchFamily="34" charset="-120"/>
                        </a:rPr>
                        <a:t>registerHealthIndicator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3202B"/>
                          </a:solidFill>
                          <a:latin typeface="IBM Plex Sans" pitchFamily="34" charset="0"/>
                          <a:ea typeface="IBM Plex Sans" pitchFamily="34" charset="-122"/>
                          <a:cs typeface="IBM Plex Sans" pitchFamily="34" charset="-120"/>
                        </a:rPr>
                        <a:t>true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3202B"/>
                          </a:solidFill>
                          <a:latin typeface="IBM Plex Sans" pitchFamily="34" charset="0"/>
                          <a:ea typeface="IBM Plex Sans" pitchFamily="34" charset="-122"/>
                          <a:cs typeface="IBM Plex Sans" pitchFamily="34" charset="-120"/>
                        </a:rPr>
                        <a:t>eventConsumerBufferSize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3202B"/>
                          </a:solidFill>
                          <a:latin typeface="IBM Plex Sans" pitchFamily="34" charset="0"/>
                          <a:ea typeface="IBM Plex Sans" pitchFamily="34" charset="-122"/>
                          <a:cs typeface="IBM Plex Sans" pitchFamily="34" charset="-120"/>
                        </a:rPr>
                        <a:t>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71B"/>
                </a:solidFill>
                <a:latin typeface="JetBrains Mono" pitchFamily="49" charset="0"/>
                <a:ea typeface="JetBrains Mono" pitchFamily="49" charset="-122"/>
                <a:cs typeface="JetBrains Mono" pitchFamily="49" charset="-120"/>
              </a:rPr>
              <a:t>PARTE 2 · ANOTACIÓN Y FALLBACK</a:t>
            </a:r>
            <a:endParaRPr lang="en-US" sz="1200" dirty="0"/>
          </a:p>
        </p:txBody>
      </p:sp>
      <p:sp>
        <p:nvSpPr>
          <p:cNvPr id="3" name="Text 1"/>
          <p:cNvSpPr/>
          <p:nvPr>
            <p:ph type="title"/>
          </p:nvPr>
        </p:nvSpPr>
        <p:spPr>
          <a:xfrm>
            <a:off x="812800" y="11785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02B"/>
                </a:solidFill>
                <a:latin typeface="IBM Plex Sans" pitchFamily="34" charset="0"/>
                <a:ea typeface="IBM Plex Sans" pitchFamily="34" charset="-122"/>
                <a:cs typeface="IBM Plex Sans" pitchFamily="34" charset="-120"/>
              </a:rPr>
              <a:t>Protegiendo cada endpoint del controlador</a:t>
            </a:r>
            <a:endParaRPr lang="en-US" sz="3200" dirty="0"/>
          </a:p>
        </p:txBody>
      </p:sp>
      <p:sp>
        <p:nvSpPr>
          <p:cNvPr id="4" name="Text 2"/>
          <p:cNvSpPr/>
          <p:nvPr/>
        </p:nvSpPr>
        <p:spPr>
          <a:xfrm>
            <a:off x="812800" y="1879600"/>
            <a:ext cx="6350000" cy="4064000"/>
          </a:xfrm>
          <a:prstGeom prst="roundRect">
            <a:avLst>
              <a:gd name="adj" fmla="val 1875"/>
            </a:avLst>
          </a:prstGeom>
          <a:solidFill>
            <a:srgbClr val="13202B"/>
          </a:solidFill>
          <a:ln/>
        </p:spPr>
        <p:txBody>
          <a:bodyPr wrap="square" lIns="180882" tIns="180882" rIns="2574" bIns="155482" rtlCol="0" anchor="t">
            <a:normAutofit/>
          </a:bodyPr>
          <a:lstStyle/>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public String </a:t>
            </a:r>
            <a:r>
              <a:rPr lang="en-US" sz="1200" dirty="0">
                <a:solidFill>
                  <a:srgbClr val="F0A35E"/>
                </a:solidFill>
                <a:latin typeface="JetBrains Mono" pitchFamily="49" charset="0"/>
                <a:ea typeface="JetBrains Mono" pitchFamily="49" charset="-122"/>
                <a:cs typeface="JetBrains Mono" pitchFamily="49" charset="-120"/>
              </a:rPr>
              <a:t>fallbackGetCatalog(Exception ex)</a:t>
            </a:r>
            <a:r>
              <a:rPr lang="en-US" sz="1200" dirty="0">
                <a:solidFill>
                  <a:srgbClr val="E6E9EC"/>
                </a:solidFill>
                <a:latin typeface="JetBrains Mono" pitchFamily="49" charset="0"/>
                <a:ea typeface="JetBrains Mono" pitchFamily="49" charset="-122"/>
                <a:cs typeface="JetBrains Mono" pitchFamily="49" charset="-120"/>
              </a:rPr>
              <a:t> {</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return "Fallback: Unable to retrieve course catalog.";</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@RequestMapping("/catalog")</a:t>
            </a:r>
            <a:endParaRPr lang="en-US" sz="1200" dirty="0"/>
          </a:p>
          <a:p>
            <a:pPr algn="l" indent="0" marL="0">
              <a:lnSpc>
                <a:spcPts val="1920"/>
              </a:lnSpc>
              <a:buNone/>
            </a:pPr>
            <a:r>
              <a:rPr lang="en-US" sz="1200" dirty="0">
                <a:solidFill>
                  <a:srgbClr val="F0A35E"/>
                </a:solidFill>
                <a:latin typeface="JetBrains Mono" pitchFamily="49" charset="0"/>
                <a:ea typeface="JetBrains Mono" pitchFamily="49" charset="-122"/>
                <a:cs typeface="JetBrains Mono" pitchFamily="49" charset="-120"/>
              </a:rPr>
              <a:t>@CircuitBreaker(name = "courseService",</a:t>
            </a:r>
            <a:endParaRPr lang="en-US" sz="1200" dirty="0"/>
          </a:p>
          <a:p>
            <a:pPr algn="l" indent="0" marL="0">
              <a:lnSpc>
                <a:spcPts val="1920"/>
              </a:lnSpc>
              <a:buNone/>
            </a:pPr>
            <a:r>
              <a:rPr lang="en-US" sz="1200" dirty="0">
                <a:solidFill>
                  <a:srgbClr val="F0A35E"/>
                </a:solidFill>
                <a:latin typeface="JetBrains Mono" pitchFamily="49" charset="0"/>
                <a:ea typeface="JetBrains Mono" pitchFamily="49" charset="-122"/>
                <a:cs typeface="JetBrains Mono" pitchFamily="49" charset="-120"/>
              </a:rPr>
              <a:t>  fallbackMethod = "fallbackGetCatalog")</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public String getCatalog() {</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InstanceInfo instanceInfo =</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client.getNextServerFromEureka("fx-course-service", false);</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String courseAppURL =</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instanceInfo.getHomePageUrl() + "/courses";</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courses = new RestTemplate()</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.getForObject(courseAppURL, String.class);</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return "Our courses are " + courses;</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a:t>
            </a:r>
            <a:endParaRPr lang="en-US" sz="1200" dirty="0"/>
          </a:p>
        </p:txBody>
      </p:sp>
      <p:sp>
        <p:nvSpPr>
          <p:cNvPr id="5" name="Shape 3"/>
          <p:cNvSpPr/>
          <p:nvPr/>
        </p:nvSpPr>
        <p:spPr>
          <a:xfrm>
            <a:off x="7419975" y="1882775"/>
            <a:ext cx="3956050" cy="1050290"/>
          </a:xfrm>
          <a:prstGeom prst="roundRect">
            <a:avLst>
              <a:gd name="adj" fmla="val 9371"/>
            </a:avLst>
          </a:prstGeom>
          <a:solidFill>
            <a:srgbClr val="FFFFFF"/>
          </a:solidFill>
          <a:ln w="6350">
            <a:solidFill>
              <a:srgbClr val="D5D1C6"/>
            </a:solidFill>
            <a:prstDash val="solid"/>
          </a:ln>
        </p:spPr>
      </p:sp>
      <p:sp>
        <p:nvSpPr>
          <p:cNvPr id="6" name="Text 4"/>
          <p:cNvSpPr/>
          <p:nvPr/>
        </p:nvSpPr>
        <p:spPr>
          <a:xfrm>
            <a:off x="7599680" y="2062479"/>
            <a:ext cx="370453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B"/>
                </a:solidFill>
                <a:latin typeface="IBM Plex Sans" pitchFamily="34" charset="0"/>
                <a:ea typeface="IBM Plex Sans" pitchFamily="34" charset="-122"/>
                <a:cs typeface="IBM Plex Sans" pitchFamily="34" charset="-120"/>
              </a:rPr>
              <a:t>Misma firma + Exception</a:t>
            </a:r>
            <a:endParaRPr lang="en-US" sz="1400" dirty="0"/>
          </a:p>
        </p:txBody>
      </p:sp>
      <p:sp>
        <p:nvSpPr>
          <p:cNvPr id="7" name="Text 5"/>
          <p:cNvSpPr/>
          <p:nvPr/>
        </p:nvSpPr>
        <p:spPr>
          <a:xfrm>
            <a:off x="7599680" y="2326642"/>
            <a:ext cx="370453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663"/>
                </a:solidFill>
                <a:latin typeface="IBM Plex Sans" pitchFamily="34" charset="0"/>
                <a:ea typeface="IBM Plex Sans" pitchFamily="34" charset="-122"/>
                <a:cs typeface="IBM Plex Sans" pitchFamily="34" charset="-120"/>
              </a:rPr>
              <a:t>El fallback devuelve String, como el método original, y recibe la excepción que provocó el fallo.</a:t>
            </a:r>
            <a:endParaRPr lang="en-US" sz="1200" dirty="0"/>
          </a:p>
        </p:txBody>
      </p:sp>
      <p:sp>
        <p:nvSpPr>
          <p:cNvPr id="8" name="Shape 6"/>
          <p:cNvSpPr/>
          <p:nvPr/>
        </p:nvSpPr>
        <p:spPr>
          <a:xfrm>
            <a:off x="7419975" y="3091817"/>
            <a:ext cx="3956050" cy="1050290"/>
          </a:xfrm>
          <a:prstGeom prst="roundRect">
            <a:avLst>
              <a:gd name="adj" fmla="val 9371"/>
            </a:avLst>
          </a:prstGeom>
          <a:solidFill>
            <a:srgbClr val="FFFFFF"/>
          </a:solidFill>
          <a:ln w="6350">
            <a:solidFill>
              <a:srgbClr val="D5D1C6"/>
            </a:solidFill>
            <a:prstDash val="solid"/>
          </a:ln>
        </p:spPr>
      </p:sp>
      <p:sp>
        <p:nvSpPr>
          <p:cNvPr id="9" name="Text 7"/>
          <p:cNvSpPr/>
          <p:nvPr/>
        </p:nvSpPr>
        <p:spPr>
          <a:xfrm>
            <a:off x="7599680" y="3271521"/>
            <a:ext cx="370453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B"/>
                </a:solidFill>
                <a:latin typeface="IBM Plex Sans" pitchFamily="34" charset="0"/>
                <a:ea typeface="IBM Plex Sans" pitchFamily="34" charset="-122"/>
                <a:cs typeface="IBM Plex Sans" pitchFamily="34" charset="-120"/>
              </a:rPr>
              <a:t>Tres endpoints, un circuito</a:t>
            </a:r>
            <a:endParaRPr lang="en-US" sz="1400" dirty="0"/>
          </a:p>
        </p:txBody>
      </p:sp>
      <p:sp>
        <p:nvSpPr>
          <p:cNvPr id="10" name="Text 8"/>
          <p:cNvSpPr/>
          <p:nvPr/>
        </p:nvSpPr>
        <p:spPr>
          <a:xfrm>
            <a:off x="7599680" y="3535679"/>
            <a:ext cx="370453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663"/>
                </a:solidFill>
                <a:latin typeface="IBM Plex Sans" pitchFamily="34" charset="0"/>
                <a:ea typeface="IBM Plex Sans" pitchFamily="34" charset="-122"/>
                <a:cs typeface="IBM Plex Sans" pitchFamily="34" charset="-120"/>
              </a:rPr>
              <a:t>/, /catalog y /firstcourse comparten la instancia courseService.</a:t>
            </a:r>
            <a:endParaRPr lang="en-US" sz="1200" dirty="0"/>
          </a:p>
        </p:txBody>
      </p:sp>
      <p:sp>
        <p:nvSpPr>
          <p:cNvPr id="11" name="Shape 9"/>
          <p:cNvSpPr/>
          <p:nvPr/>
        </p:nvSpPr>
        <p:spPr>
          <a:xfrm>
            <a:off x="7419975" y="4300854"/>
            <a:ext cx="3956050" cy="1050290"/>
          </a:xfrm>
          <a:prstGeom prst="roundRect">
            <a:avLst>
              <a:gd name="adj" fmla="val 9371"/>
            </a:avLst>
          </a:prstGeom>
          <a:solidFill>
            <a:srgbClr val="FFFFFF"/>
          </a:solidFill>
          <a:ln w="6350">
            <a:solidFill>
              <a:srgbClr val="D5D1C6"/>
            </a:solidFill>
            <a:prstDash val="solid"/>
          </a:ln>
        </p:spPr>
      </p:sp>
      <p:sp>
        <p:nvSpPr>
          <p:cNvPr id="12" name="Text 10"/>
          <p:cNvSpPr/>
          <p:nvPr/>
        </p:nvSpPr>
        <p:spPr>
          <a:xfrm>
            <a:off x="7599680" y="4480564"/>
            <a:ext cx="370453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B"/>
                </a:solidFill>
                <a:latin typeface="IBM Plex Sans" pitchFamily="34" charset="0"/>
                <a:ea typeface="IBM Plex Sans" pitchFamily="34" charset="-122"/>
                <a:cs typeface="IBM Plex Sans" pitchFamily="34" charset="-120"/>
              </a:rPr>
              <a:t>Un mensaje por endpoint</a:t>
            </a:r>
            <a:endParaRPr lang="en-US" sz="1400" dirty="0"/>
          </a:p>
        </p:txBody>
      </p:sp>
      <p:sp>
        <p:nvSpPr>
          <p:cNvPr id="13" name="Text 11"/>
          <p:cNvSpPr/>
          <p:nvPr/>
        </p:nvSpPr>
        <p:spPr>
          <a:xfrm>
            <a:off x="7599680" y="4744721"/>
            <a:ext cx="370453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663"/>
                </a:solidFill>
                <a:latin typeface="IBM Plex Sans" pitchFamily="34" charset="0"/>
                <a:ea typeface="IBM Plex Sans" pitchFamily="34" charset="-122"/>
                <a:cs typeface="IBM Plex Sans" pitchFamily="34" charset="-120"/>
              </a:rPr>
              <a:t>Unable to reach course service · Unable to retrieve course catalog · Unable to retrieve first course.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71B"/>
                </a:solidFill>
                <a:latin typeface="JetBrains Mono" pitchFamily="49" charset="0"/>
                <a:ea typeface="JetBrains Mono" pitchFamily="49" charset="-122"/>
                <a:cs typeface="JetBrains Mono" pitchFamily="49" charset="-120"/>
              </a:rPr>
              <a:t>PARTE 2 · CONFIGURACIÓN AVANZADA (PASO 5)</a:t>
            </a:r>
            <a:endParaRPr lang="en-US" sz="1200" dirty="0"/>
          </a:p>
        </p:txBody>
      </p:sp>
      <p:sp>
        <p:nvSpPr>
          <p:cNvPr id="3" name="Text 1"/>
          <p:cNvSpPr/>
          <p:nvPr>
            <p:ph type="title"/>
          </p:nvPr>
        </p:nvSpPr>
        <p:spPr>
          <a:xfrm>
            <a:off x="812800" y="11785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02B"/>
                </a:solidFill>
                <a:latin typeface="IBM Plex Sans" pitchFamily="34" charset="0"/>
                <a:ea typeface="IBM Plex Sans" pitchFamily="34" charset="-122"/>
                <a:cs typeface="IBM Plex Sans" pitchFamily="34" charset="-120"/>
              </a:rPr>
              <a:t>Resilience4JConfig por código</a:t>
            </a:r>
            <a:endParaRPr lang="en-US" sz="3200" dirty="0"/>
          </a:p>
        </p:txBody>
      </p:sp>
      <p:sp>
        <p:nvSpPr>
          <p:cNvPr id="4" name="Text 2"/>
          <p:cNvSpPr/>
          <p:nvPr/>
        </p:nvSpPr>
        <p:spPr>
          <a:xfrm>
            <a:off x="812800" y="1879600"/>
            <a:ext cx="6502400" cy="4064000"/>
          </a:xfrm>
          <a:prstGeom prst="roundRect">
            <a:avLst>
              <a:gd name="adj" fmla="val 1875"/>
            </a:avLst>
          </a:prstGeom>
          <a:solidFill>
            <a:srgbClr val="13202B"/>
          </a:solidFill>
          <a:ln/>
        </p:spPr>
        <p:txBody>
          <a:bodyPr wrap="square" lIns="180882" tIns="180882" rIns="0" bIns="155482" rtlCol="0" anchor="t">
            <a:normAutofit/>
          </a:bodyPr>
          <a:lstStyle/>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@Configuration</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public class Resilience4JConfig {</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@Bean</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public Customizer&lt;Resilience4JCircuitBreakerFactory&gt;</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globalCustomConfiguration() {</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CircuitBreakerConfig config = CircuitBreakerConfig.custom()</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.failureRateThreshold(</a:t>
            </a:r>
            <a:r>
              <a:rPr lang="en-US" sz="1200" dirty="0">
                <a:solidFill>
                  <a:srgbClr val="F0A35E"/>
                </a:solidFill>
                <a:latin typeface="JetBrains Mono" pitchFamily="49" charset="0"/>
                <a:ea typeface="JetBrains Mono" pitchFamily="49" charset="-122"/>
                <a:cs typeface="JetBrains Mono" pitchFamily="49" charset="-120"/>
              </a:rPr>
              <a:t>50</a:t>
            </a:r>
            <a:r>
              <a:rPr lang="en-US" sz="1200" dirty="0">
                <a:solidFill>
                  <a:srgbClr val="E6E9EC"/>
                </a:solidFill>
                <a:latin typeface="JetBrains Mono" pitchFamily="49" charset="0"/>
                <a:ea typeface="JetBrains Mono" pitchFamily="49" charset="-122"/>
                <a:cs typeface="JetBrains Mono" pitchFamily="49" charset="-120"/>
              </a:rPr>
              <a:t>)</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.waitDurationInOpenState(Duration.ofMillis(</a:t>
            </a:r>
            <a:r>
              <a:rPr lang="en-US" sz="1200" dirty="0">
                <a:solidFill>
                  <a:srgbClr val="F0A35E"/>
                </a:solidFill>
                <a:latin typeface="JetBrains Mono" pitchFamily="49" charset="0"/>
                <a:ea typeface="JetBrains Mono" pitchFamily="49" charset="-122"/>
                <a:cs typeface="JetBrains Mono" pitchFamily="49" charset="-120"/>
              </a:rPr>
              <a:t>1000</a:t>
            </a:r>
            <a:r>
              <a:rPr lang="en-US" sz="1200" dirty="0">
                <a:solidFill>
                  <a:srgbClr val="E6E9EC"/>
                </a:solidFill>
                <a:latin typeface="JetBrains Mono" pitchFamily="49" charset="0"/>
                <a:ea typeface="JetBrains Mono" pitchFamily="49" charset="-122"/>
                <a:cs typeface="JetBrains Mono" pitchFamily="49" charset="-120"/>
              </a:rPr>
              <a:t>))</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.slidingWindowSize(</a:t>
            </a:r>
            <a:r>
              <a:rPr lang="en-US" sz="1200" dirty="0">
                <a:solidFill>
                  <a:srgbClr val="F0A35E"/>
                </a:solidFill>
                <a:latin typeface="JetBrains Mono" pitchFamily="49" charset="0"/>
                <a:ea typeface="JetBrains Mono" pitchFamily="49" charset="-122"/>
                <a:cs typeface="JetBrains Mono" pitchFamily="49" charset="-120"/>
              </a:rPr>
              <a:t>2</a:t>
            </a:r>
            <a:r>
              <a:rPr lang="en-US" sz="1200" dirty="0">
                <a:solidFill>
                  <a:srgbClr val="E6E9EC"/>
                </a:solidFill>
                <a:latin typeface="JetBrains Mono" pitchFamily="49" charset="0"/>
                <a:ea typeface="JetBrains Mono" pitchFamily="49" charset="-122"/>
                <a:cs typeface="JetBrains Mono" pitchFamily="49" charset="-120"/>
              </a:rPr>
              <a:t>)</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.build();</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return factory -&gt; factory.configureDefault(id -&gt;</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new Resilience4JConfigBuilder(id)</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.circuitBreakerConfig(config).build());</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  }</a:t>
            </a:r>
            <a:endParaRPr lang="en-US" sz="1200" dirty="0"/>
          </a:p>
          <a:p>
            <a:pPr algn="l" indent="0" marL="0">
              <a:lnSpc>
                <a:spcPts val="1920"/>
              </a:lnSpc>
              <a:buNone/>
            </a:pPr>
            <a:r>
              <a:rPr lang="en-US" sz="1200" dirty="0">
                <a:solidFill>
                  <a:srgbClr val="E6E9EC"/>
                </a:solidFill>
                <a:latin typeface="JetBrains Mono" pitchFamily="49" charset="0"/>
                <a:ea typeface="JetBrains Mono" pitchFamily="49" charset="-122"/>
                <a:cs typeface="JetBrains Mono" pitchFamily="49" charset="-120"/>
              </a:rPr>
              <a:t>}</a:t>
            </a:r>
            <a:endParaRPr lang="en-US" sz="1200" dirty="0"/>
          </a:p>
        </p:txBody>
      </p:sp>
      <p:sp>
        <p:nvSpPr>
          <p:cNvPr id="5" name="Shape 3"/>
          <p:cNvSpPr/>
          <p:nvPr/>
        </p:nvSpPr>
        <p:spPr>
          <a:xfrm>
            <a:off x="7572375" y="1882775"/>
            <a:ext cx="3803650" cy="1050290"/>
          </a:xfrm>
          <a:prstGeom prst="roundRect">
            <a:avLst>
              <a:gd name="adj" fmla="val 9371"/>
            </a:avLst>
          </a:prstGeom>
          <a:solidFill>
            <a:srgbClr val="FFFFFF"/>
          </a:solidFill>
          <a:ln w="6350">
            <a:solidFill>
              <a:srgbClr val="D5D1C6"/>
            </a:solidFill>
            <a:prstDash val="solid"/>
          </a:ln>
        </p:spPr>
      </p:sp>
      <p:sp>
        <p:nvSpPr>
          <p:cNvPr id="6" name="Text 4"/>
          <p:cNvSpPr/>
          <p:nvPr/>
        </p:nvSpPr>
        <p:spPr>
          <a:xfrm>
            <a:off x="7752080" y="2062479"/>
            <a:ext cx="354756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B"/>
                </a:solidFill>
                <a:latin typeface="IBM Plex Sans" pitchFamily="34" charset="0"/>
                <a:ea typeface="IBM Plex Sans" pitchFamily="34" charset="-122"/>
                <a:cs typeface="IBM Plex Sans" pitchFamily="34" charset="-120"/>
              </a:rPr>
              <a:t>Qué define</a:t>
            </a:r>
            <a:endParaRPr lang="en-US" sz="1400" dirty="0"/>
          </a:p>
        </p:txBody>
      </p:sp>
      <p:sp>
        <p:nvSpPr>
          <p:cNvPr id="7" name="Text 5"/>
          <p:cNvSpPr/>
          <p:nvPr/>
        </p:nvSpPr>
        <p:spPr>
          <a:xfrm>
            <a:off x="7752080" y="2326642"/>
            <a:ext cx="354756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663"/>
                </a:solidFill>
                <a:latin typeface="IBM Plex Sans" pitchFamily="34" charset="0"/>
                <a:ea typeface="IBM Plex Sans" pitchFamily="34" charset="-122"/>
                <a:cs typeface="IBM Plex Sans" pitchFamily="34" charset="-120"/>
              </a:rPr>
              <a:t>Un valor por defecto: abrir con 50 % de fallos, ventana de 2 llamadas, 1 s abierto.</a:t>
            </a:r>
            <a:endParaRPr lang="en-US" sz="1200" dirty="0"/>
          </a:p>
        </p:txBody>
      </p:sp>
      <p:sp>
        <p:nvSpPr>
          <p:cNvPr id="8" name="Shape 6"/>
          <p:cNvSpPr/>
          <p:nvPr/>
        </p:nvSpPr>
        <p:spPr>
          <a:xfrm>
            <a:off x="7572375" y="3091817"/>
            <a:ext cx="3803650" cy="1050290"/>
          </a:xfrm>
          <a:prstGeom prst="roundRect">
            <a:avLst>
              <a:gd name="adj" fmla="val 9371"/>
            </a:avLst>
          </a:prstGeom>
          <a:solidFill>
            <a:srgbClr val="FFFFFF"/>
          </a:solidFill>
          <a:ln w="6350">
            <a:solidFill>
              <a:srgbClr val="D5D1C6"/>
            </a:solidFill>
            <a:prstDash val="solid"/>
          </a:ln>
        </p:spPr>
      </p:sp>
      <p:sp>
        <p:nvSpPr>
          <p:cNvPr id="9" name="Text 7"/>
          <p:cNvSpPr/>
          <p:nvPr/>
        </p:nvSpPr>
        <p:spPr>
          <a:xfrm>
            <a:off x="7752080" y="3271521"/>
            <a:ext cx="354756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B"/>
                </a:solidFill>
                <a:latin typeface="IBM Plex Sans" pitchFamily="34" charset="0"/>
                <a:ea typeface="IBM Plex Sans" pitchFamily="34" charset="-122"/>
                <a:cs typeface="IBM Plex Sans" pitchFamily="34" charset="-120"/>
              </a:rPr>
              <a:t>A quién aplica</a:t>
            </a:r>
            <a:endParaRPr lang="en-US" sz="1400" dirty="0"/>
          </a:p>
        </p:txBody>
      </p:sp>
      <p:sp>
        <p:nvSpPr>
          <p:cNvPr id="10" name="Text 8"/>
          <p:cNvSpPr/>
          <p:nvPr/>
        </p:nvSpPr>
        <p:spPr>
          <a:xfrm>
            <a:off x="7752080" y="3535679"/>
            <a:ext cx="354756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663"/>
                </a:solidFill>
                <a:latin typeface="IBM Plex Sans" pitchFamily="34" charset="0"/>
                <a:ea typeface="IBM Plex Sans" pitchFamily="34" charset="-122"/>
                <a:cs typeface="IBM Plex Sans" pitchFamily="34" charset="-120"/>
              </a:rPr>
              <a:t>A los circuit breakers creados con la fábrica de Spring Cloud (CircuitBreakerFactory).</a:t>
            </a:r>
            <a:endParaRPr lang="en-US" sz="1200" dirty="0"/>
          </a:p>
        </p:txBody>
      </p:sp>
      <p:sp>
        <p:nvSpPr>
          <p:cNvPr id="11" name="Shape 9"/>
          <p:cNvSpPr/>
          <p:nvPr/>
        </p:nvSpPr>
        <p:spPr>
          <a:xfrm>
            <a:off x="7572375" y="4300854"/>
            <a:ext cx="3803650" cy="1050290"/>
          </a:xfrm>
          <a:prstGeom prst="roundRect">
            <a:avLst>
              <a:gd name="adj" fmla="val 9371"/>
            </a:avLst>
          </a:prstGeom>
          <a:solidFill>
            <a:srgbClr val="FFFFFF"/>
          </a:solidFill>
          <a:ln w="6350">
            <a:solidFill>
              <a:srgbClr val="D5D1C6"/>
            </a:solidFill>
            <a:prstDash val="solid"/>
          </a:ln>
        </p:spPr>
      </p:sp>
      <p:sp>
        <p:nvSpPr>
          <p:cNvPr id="12" name="Text 10"/>
          <p:cNvSpPr/>
          <p:nvPr/>
        </p:nvSpPr>
        <p:spPr>
          <a:xfrm>
            <a:off x="7752080" y="4480564"/>
            <a:ext cx="354756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B"/>
                </a:solidFill>
                <a:latin typeface="IBM Plex Sans" pitchFamily="34" charset="0"/>
                <a:ea typeface="IBM Plex Sans" pitchFamily="34" charset="-122"/>
                <a:cs typeface="IBM Plex Sans" pitchFamily="34" charset="-120"/>
              </a:rPr>
              <a:t>Y courseService</a:t>
            </a:r>
            <a:endParaRPr lang="en-US" sz="1400" dirty="0"/>
          </a:p>
        </p:txBody>
      </p:sp>
      <p:sp>
        <p:nvSpPr>
          <p:cNvPr id="13" name="Text 11"/>
          <p:cNvSpPr/>
          <p:nvPr/>
        </p:nvSpPr>
        <p:spPr>
          <a:xfrm>
            <a:off x="7752080" y="4744721"/>
            <a:ext cx="354756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663"/>
                </a:solidFill>
                <a:latin typeface="IBM Plex Sans" pitchFamily="34" charset="0"/>
                <a:ea typeface="IBM Plex Sans" pitchFamily="34" charset="-122"/>
                <a:cs typeface="IBM Plex Sans" pitchFamily="34" charset="-120"/>
              </a:rPr>
              <a:t>La anotación usa los valores de application.properties (ventana de 10, 5 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71B"/>
                </a:solidFill>
                <a:latin typeface="JetBrains Mono" pitchFamily="49" charset="0"/>
                <a:ea typeface="JetBrains Mono" pitchFamily="49" charset="-122"/>
                <a:cs typeface="JetBrains Mono" pitchFamily="49" charset="-120"/>
              </a:rPr>
              <a:t>EVIDENCIA · 1 DE 2</a:t>
            </a:r>
            <a:endParaRPr lang="en-US" sz="1200" dirty="0"/>
          </a:p>
        </p:txBody>
      </p:sp>
      <p:sp>
        <p:nvSpPr>
          <p:cNvPr id="3" name="Text 1"/>
          <p:cNvSpPr/>
          <p:nvPr>
            <p:ph type="title"/>
          </p:nvPr>
        </p:nvSpPr>
        <p:spPr>
          <a:xfrm>
            <a:off x="812800" y="11785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02B"/>
                </a:solidFill>
                <a:latin typeface="IBM Plex Sans" pitchFamily="34" charset="0"/>
                <a:ea typeface="IBM Plex Sans" pitchFamily="34" charset="-122"/>
                <a:cs typeface="IBM Plex Sans" pitchFamily="34" charset="-120"/>
              </a:rPr>
              <a:t>CLOSED con el servicio arriba, fallback al caer</a:t>
            </a:r>
            <a:endParaRPr lang="en-US" sz="3200" dirty="0"/>
          </a:p>
        </p:txBody>
      </p:sp>
      <p:sp>
        <p:nvSpPr>
          <p:cNvPr id="4" name="Text 2"/>
          <p:cNvSpPr/>
          <p:nvPr/>
        </p:nvSpPr>
        <p:spPr>
          <a:xfrm>
            <a:off x="812800" y="1879600"/>
            <a:ext cx="653649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B0"/>
                </a:solidFill>
                <a:latin typeface="JetBrains Mono" pitchFamily="49" charset="0"/>
                <a:ea typeface="JetBrains Mono" pitchFamily="49" charset="-122"/>
                <a:cs typeface="JetBrains Mono" pitchFamily="49" charset="-120"/>
              </a:rPr>
              <a:t>CLOSED · /actuator/health</a:t>
            </a:r>
            <a:endParaRPr lang="en-US" sz="1400" dirty="0"/>
          </a:p>
        </p:txBody>
      </p:sp>
      <p:sp>
        <p:nvSpPr>
          <p:cNvPr id="5" name="Shape 3"/>
          <p:cNvSpPr/>
          <p:nvPr/>
        </p:nvSpPr>
        <p:spPr>
          <a:xfrm>
            <a:off x="812800" y="2230121"/>
            <a:ext cx="6324600" cy="2355850"/>
          </a:xfrm>
          <a:prstGeom prst="roundRect">
            <a:avLst>
              <a:gd name="adj" fmla="val 3235"/>
            </a:avLst>
          </a:prstGeom>
          <a:solidFill>
            <a:srgbClr val="1E1E1E"/>
          </a:solidFill>
          <a:ln/>
        </p:spPr>
      </p:sp>
      <p:pic>
        <p:nvPicPr>
          <p:cNvPr id="6" name="Image 0" descr="Respuesta de /actuator/health con courseService en estado CLOSED, failureRate 0.0 %, bufferedCalls 6 y failedCalls 0">    </p:cNvPr>
          <p:cNvPicPr>
            <a:picLocks noChangeAspect="1"/>
          </p:cNvPicPr>
          <p:nvPr/>
        </p:nvPicPr>
        <p:blipFill>
          <a:blip r:embed="rId1"/>
          <a:srcRect l="-147" r="-147" t="0" b="0"/>
          <a:stretch/>
        </p:blipFill>
        <p:spPr>
          <a:xfrm>
            <a:off x="819150" y="2236471"/>
            <a:ext cx="6311900" cy="2343150"/>
          </a:xfrm>
          <a:prstGeom prst="roundRect">
            <a:avLst>
              <a:gd name="adj" fmla="val 2981"/>
            </a:avLst>
          </a:prstGeom>
        </p:spPr>
      </p:pic>
      <p:sp>
        <p:nvSpPr>
          <p:cNvPr id="7" name="Shape 4"/>
          <p:cNvSpPr/>
          <p:nvPr/>
        </p:nvSpPr>
        <p:spPr>
          <a:xfrm>
            <a:off x="815975" y="2233296"/>
            <a:ext cx="6318250" cy="2349500"/>
          </a:xfrm>
          <a:prstGeom prst="roundRect">
            <a:avLst>
              <a:gd name="adj" fmla="val 3108"/>
            </a:avLst>
          </a:prstGeom>
          <a:noFill/>
          <a:ln w="6350">
            <a:solidFill>
              <a:srgbClr val="D5D1C6"/>
            </a:solidFill>
            <a:prstDash val="solid"/>
          </a:ln>
        </p:spPr>
      </p:sp>
      <p:sp>
        <p:nvSpPr>
          <p:cNvPr id="8" name="Text 5"/>
          <p:cNvSpPr/>
          <p:nvPr/>
        </p:nvSpPr>
        <p:spPr>
          <a:xfrm>
            <a:off x="812800" y="4687571"/>
            <a:ext cx="653649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663"/>
                </a:solidFill>
                <a:latin typeface="IBM Plex Sans" pitchFamily="34" charset="0"/>
                <a:ea typeface="IBM Plex Sans" pitchFamily="34" charset="-122"/>
                <a:cs typeface="IBM Plex Sans" pitchFamily="34" charset="-120"/>
              </a:rPr>
              <a:t>6 llamadas registradas, 0 fallidas, tasa de fallos 0,0 %.</a:t>
            </a:r>
            <a:endParaRPr lang="en-US" sz="1300" dirty="0"/>
          </a:p>
        </p:txBody>
      </p:sp>
      <p:sp>
        <p:nvSpPr>
          <p:cNvPr id="9" name="Text 6"/>
          <p:cNvSpPr/>
          <p:nvPr/>
        </p:nvSpPr>
        <p:spPr>
          <a:xfrm>
            <a:off x="7412911" y="1879600"/>
            <a:ext cx="408527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571B"/>
                </a:solidFill>
                <a:latin typeface="JetBrains Mono" pitchFamily="49" charset="0"/>
                <a:ea typeface="JetBrains Mono" pitchFamily="49" charset="-122"/>
                <a:cs typeface="JetBrains Mono" pitchFamily="49" charset="-120"/>
              </a:rPr>
              <a:t>Fallback · localhost:8002/</a:t>
            </a:r>
            <a:endParaRPr lang="en-US" sz="1400" dirty="0"/>
          </a:p>
        </p:txBody>
      </p:sp>
      <p:sp>
        <p:nvSpPr>
          <p:cNvPr id="10" name="Shape 7"/>
          <p:cNvSpPr/>
          <p:nvPr/>
        </p:nvSpPr>
        <p:spPr>
          <a:xfrm>
            <a:off x="7412911" y="2230121"/>
            <a:ext cx="3937000" cy="1066800"/>
          </a:xfrm>
          <a:prstGeom prst="roundRect">
            <a:avLst>
              <a:gd name="adj" fmla="val 7143"/>
            </a:avLst>
          </a:prstGeom>
          <a:solidFill>
            <a:srgbClr val="FFFFFF"/>
          </a:solidFill>
          <a:ln/>
        </p:spPr>
      </p:sp>
      <p:pic>
        <p:nvPicPr>
          <p:cNvPr id="11" name="Image 1" descr="localhost:8002 responde con el fallback: Fallback: Unable to reach course service.">    </p:cNvPr>
          <p:cNvPicPr>
            <a:picLocks noChangeAspect="1"/>
          </p:cNvPicPr>
          <p:nvPr/>
        </p:nvPicPr>
        <p:blipFill>
          <a:blip r:embed="rId2"/>
          <a:stretch>
            <a:fillRect/>
          </a:stretch>
        </p:blipFill>
        <p:spPr>
          <a:xfrm>
            <a:off x="7439961" y="2236471"/>
            <a:ext cx="3882899" cy="1054100"/>
          </a:xfrm>
          <a:custGeom>
            <a:avLst/>
            <a:gdLst/>
            <a:ahLst/>
            <a:cxnLst/>
            <a:rect l="l" t="t" r="r" b="b"/>
            <a:pathLst>
              <a:path w="3882899" h="1054100">
                <a:moveTo>
                  <a:pt x="0" y="20218"/>
                </a:moveTo>
                <a:arcTo wR="69850" hR="69850" stAng="13516781" swAng="2683219"/>
                <a:lnTo>
                  <a:pt x="3833750" y="0"/>
                </a:lnTo>
                <a:arcTo wR="69850" hR="69850" stAng="16200000" swAng="2683219"/>
                <a:lnTo>
                  <a:pt x="3882899" y="1033882"/>
                </a:lnTo>
                <a:arcTo wR="69850" hR="69850" stAng="2716781" swAng="2683219"/>
                <a:lnTo>
                  <a:pt x="49150" y="1054100"/>
                </a:lnTo>
                <a:arcTo wR="69850" hR="69850" stAng="5400000" swAng="2683219"/>
                <a:close/>
              </a:path>
            </a:pathLst>
          </a:custGeom>
        </p:spPr>
      </p:pic>
      <p:sp>
        <p:nvSpPr>
          <p:cNvPr id="12" name="Shape 8"/>
          <p:cNvSpPr/>
          <p:nvPr/>
        </p:nvSpPr>
        <p:spPr>
          <a:xfrm>
            <a:off x="7416086" y="2233296"/>
            <a:ext cx="3930650" cy="1060450"/>
          </a:xfrm>
          <a:prstGeom prst="roundRect">
            <a:avLst>
              <a:gd name="adj" fmla="val 6886"/>
            </a:avLst>
          </a:prstGeom>
          <a:noFill/>
          <a:ln w="6350">
            <a:solidFill>
              <a:srgbClr val="D5D1C6"/>
            </a:solidFill>
            <a:prstDash val="solid"/>
          </a:ln>
        </p:spPr>
      </p:sp>
      <p:sp>
        <p:nvSpPr>
          <p:cNvPr id="13" name="Text 9"/>
          <p:cNvSpPr/>
          <p:nvPr/>
        </p:nvSpPr>
        <p:spPr>
          <a:xfrm>
            <a:off x="7412911" y="3398521"/>
            <a:ext cx="408527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663"/>
                </a:solidFill>
                <a:latin typeface="IBM Plex Sans" pitchFamily="34" charset="0"/>
                <a:ea typeface="IBM Plex Sans" pitchFamily="34" charset="-122"/>
                <a:cs typeface="IBM Plex Sans" pitchFamily="34" charset="-120"/>
              </a:rPr>
              <a:t>Con fx-course-service detenido, el catálogo responde un mensaje controlado en lugar de un error 500.</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71B"/>
                </a:solidFill>
                <a:latin typeface="JetBrains Mono" pitchFamily="49" charset="0"/>
                <a:ea typeface="JetBrains Mono" pitchFamily="49" charset="-122"/>
                <a:cs typeface="JetBrains Mono" pitchFamily="49" charset="-120"/>
              </a:rPr>
              <a:t>EVIDENCIA · 2 DE 2</a:t>
            </a:r>
            <a:endParaRPr lang="en-US" sz="1200" dirty="0"/>
          </a:p>
        </p:txBody>
      </p:sp>
      <p:sp>
        <p:nvSpPr>
          <p:cNvPr id="3" name="Text 1"/>
          <p:cNvSpPr/>
          <p:nvPr>
            <p:ph type="title"/>
          </p:nvPr>
        </p:nvSpPr>
        <p:spPr>
          <a:xfrm>
            <a:off x="812800" y="11785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02B"/>
                </a:solidFill>
                <a:latin typeface="IBM Plex Sans" pitchFamily="34" charset="0"/>
                <a:ea typeface="IBM Plex Sans" pitchFamily="34" charset="-122"/>
                <a:cs typeface="IBM Plex Sans" pitchFamily="34" charset="-120"/>
              </a:rPr>
              <a:t>OPEN y HALF_OPEN en /actuator/health</a:t>
            </a:r>
            <a:endParaRPr lang="en-US" sz="3200" dirty="0"/>
          </a:p>
        </p:txBody>
      </p:sp>
      <p:sp>
        <p:nvSpPr>
          <p:cNvPr id="4" name="Text 2"/>
          <p:cNvSpPr/>
          <p:nvPr/>
        </p:nvSpPr>
        <p:spPr>
          <a:xfrm>
            <a:off x="812800" y="2261871"/>
            <a:ext cx="342722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B5571B"/>
                </a:solidFill>
                <a:latin typeface="JetBrains Mono" pitchFamily="49" charset="0"/>
                <a:ea typeface="JetBrains Mono" pitchFamily="49" charset="-122"/>
                <a:cs typeface="JetBrains Mono" pitchFamily="49" charset="-120"/>
              </a:rPr>
              <a:t>OPEN</a:t>
            </a:r>
            <a:endParaRPr lang="en-US" sz="1800" dirty="0"/>
          </a:p>
        </p:txBody>
      </p:sp>
      <p:sp>
        <p:nvSpPr>
          <p:cNvPr id="5" name="Text 3"/>
          <p:cNvSpPr/>
          <p:nvPr/>
        </p:nvSpPr>
        <p:spPr>
          <a:xfrm>
            <a:off x="812800" y="2658114"/>
            <a:ext cx="3427222"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663"/>
                </a:solidFill>
                <a:latin typeface="IBM Plex Sans" pitchFamily="34" charset="0"/>
                <a:ea typeface="IBM Plex Sans" pitchFamily="34" charset="-122"/>
                <a:cs typeface="IBM Plex Sans" pitchFamily="34" charset="-120"/>
              </a:rPr>
              <a:t>Tasa de fallos 100 %, 3 de 3 llamadas fallidas. Eureka ya solo lista fx-catalog-service.</a:t>
            </a:r>
            <a:endParaRPr lang="en-US" sz="1300" dirty="0"/>
          </a:p>
        </p:txBody>
      </p:sp>
      <p:sp>
        <p:nvSpPr>
          <p:cNvPr id="6" name="Shape 4"/>
          <p:cNvSpPr/>
          <p:nvPr/>
        </p:nvSpPr>
        <p:spPr>
          <a:xfrm>
            <a:off x="4394200" y="1828800"/>
            <a:ext cx="6985000" cy="1955800"/>
          </a:xfrm>
          <a:prstGeom prst="roundRect">
            <a:avLst>
              <a:gd name="adj" fmla="val 3896"/>
            </a:avLst>
          </a:prstGeom>
          <a:solidFill>
            <a:srgbClr val="1E1E1E"/>
          </a:solidFill>
          <a:ln/>
        </p:spPr>
      </p:sp>
      <p:pic>
        <p:nvPicPr>
          <p:cNvPr id="7" name="Image 0" descr="Respuesta de /actuator/health con courseService en estado OPEN, failureRate 100.0 %, bufferedCalls 3 y failedCalls 3">    </p:cNvPr>
          <p:cNvPicPr>
            <a:picLocks noChangeAspect="1"/>
          </p:cNvPicPr>
          <p:nvPr/>
        </p:nvPicPr>
        <p:blipFill>
          <a:blip r:embed="rId1"/>
          <a:srcRect l="-186" r="-186" t="0" b="0"/>
          <a:stretch/>
        </p:blipFill>
        <p:spPr>
          <a:xfrm>
            <a:off x="4400550" y="1835150"/>
            <a:ext cx="6972300" cy="1943100"/>
          </a:xfrm>
          <a:prstGeom prst="roundRect">
            <a:avLst>
              <a:gd name="adj" fmla="val 3595"/>
            </a:avLst>
          </a:prstGeom>
        </p:spPr>
      </p:pic>
      <p:sp>
        <p:nvSpPr>
          <p:cNvPr id="8" name="Shape 5"/>
          <p:cNvSpPr/>
          <p:nvPr/>
        </p:nvSpPr>
        <p:spPr>
          <a:xfrm>
            <a:off x="4397375" y="1831975"/>
            <a:ext cx="6978650" cy="1949450"/>
          </a:xfrm>
          <a:prstGeom prst="roundRect">
            <a:avLst>
              <a:gd name="adj" fmla="val 3746"/>
            </a:avLst>
          </a:prstGeom>
          <a:noFill/>
          <a:ln w="6350">
            <a:solidFill>
              <a:srgbClr val="D5D1C6"/>
            </a:solidFill>
            <a:prstDash val="solid"/>
          </a:ln>
        </p:spPr>
      </p:sp>
      <p:sp>
        <p:nvSpPr>
          <p:cNvPr id="9" name="Text 6"/>
          <p:cNvSpPr/>
          <p:nvPr/>
        </p:nvSpPr>
        <p:spPr>
          <a:xfrm>
            <a:off x="812800" y="4441192"/>
            <a:ext cx="342722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F6FB0"/>
                </a:solidFill>
                <a:latin typeface="JetBrains Mono" pitchFamily="49" charset="0"/>
                <a:ea typeface="JetBrains Mono" pitchFamily="49" charset="-122"/>
                <a:cs typeface="JetBrains Mono" pitchFamily="49" charset="-120"/>
              </a:rPr>
              <a:t>HALF_OPEN</a:t>
            </a:r>
            <a:endParaRPr lang="en-US" sz="1800" dirty="0"/>
          </a:p>
        </p:txBody>
      </p:sp>
      <p:sp>
        <p:nvSpPr>
          <p:cNvPr id="10" name="Text 7"/>
          <p:cNvSpPr/>
          <p:nvPr/>
        </p:nvSpPr>
        <p:spPr>
          <a:xfrm>
            <a:off x="812800" y="4837429"/>
            <a:ext cx="342722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663"/>
                </a:solidFill>
                <a:latin typeface="IBM Plex Sans" pitchFamily="34" charset="0"/>
                <a:ea typeface="IBM Plex Sans" pitchFamily="34" charset="-122"/>
                <a:cs typeface="IBM Plex Sans" pitchFamily="34" charset="-120"/>
              </a:rPr>
              <a:t>A los 5 s pasa solo: contadores en 0, esperando 3 llamadas de prueba.</a:t>
            </a:r>
            <a:endParaRPr lang="en-US" sz="1300" dirty="0"/>
          </a:p>
        </p:txBody>
      </p:sp>
      <p:sp>
        <p:nvSpPr>
          <p:cNvPr id="11" name="Shape 8"/>
          <p:cNvSpPr/>
          <p:nvPr/>
        </p:nvSpPr>
        <p:spPr>
          <a:xfrm>
            <a:off x="4394200" y="3987800"/>
            <a:ext cx="6985000" cy="1765300"/>
          </a:xfrm>
          <a:prstGeom prst="roundRect">
            <a:avLst>
              <a:gd name="adj" fmla="val 4317"/>
            </a:avLst>
          </a:prstGeom>
          <a:solidFill>
            <a:srgbClr val="1E1E1E"/>
          </a:solidFill>
          <a:ln/>
        </p:spPr>
      </p:sp>
      <p:pic>
        <p:nvPicPr>
          <p:cNvPr id="12" name="Image 1" descr="Respuesta de /actuator/health con courseService en estado HALF_OPEN y contadores en cero">    </p:cNvPr>
          <p:cNvPicPr>
            <a:picLocks noChangeAspect="1"/>
          </p:cNvPicPr>
          <p:nvPr/>
        </p:nvPicPr>
        <p:blipFill>
          <a:blip r:embed="rId2"/>
          <a:srcRect l="-353" r="-353" t="0" b="0"/>
          <a:stretch/>
        </p:blipFill>
        <p:spPr>
          <a:xfrm>
            <a:off x="4400550" y="3994150"/>
            <a:ext cx="6972300" cy="1752600"/>
          </a:xfrm>
          <a:prstGeom prst="roundRect">
            <a:avLst>
              <a:gd name="adj" fmla="val 3986"/>
            </a:avLst>
          </a:prstGeom>
        </p:spPr>
      </p:pic>
      <p:sp>
        <p:nvSpPr>
          <p:cNvPr id="13" name="Shape 9"/>
          <p:cNvSpPr/>
          <p:nvPr/>
        </p:nvSpPr>
        <p:spPr>
          <a:xfrm>
            <a:off x="4397375" y="3990975"/>
            <a:ext cx="6978650" cy="1758950"/>
          </a:xfrm>
          <a:prstGeom prst="roundRect">
            <a:avLst>
              <a:gd name="adj" fmla="val 4152"/>
            </a:avLst>
          </a:prstGeom>
          <a:noFill/>
          <a:ln w="6350">
            <a:solidFill>
              <a:srgbClr val="D5D1C6"/>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71B"/>
                </a:solidFill>
                <a:latin typeface="JetBrains Mono" pitchFamily="49" charset="0"/>
                <a:ea typeface="JetBrains Mono" pitchFamily="49" charset="-122"/>
                <a:cs typeface="JetBrains Mono" pitchFamily="49" charset="-120"/>
              </a:rPr>
              <a:t>RESULTADO</a:t>
            </a:r>
            <a:endParaRPr lang="en-US" sz="1200" dirty="0"/>
          </a:p>
        </p:txBody>
      </p:sp>
      <p:sp>
        <p:nvSpPr>
          <p:cNvPr id="3" name="Text 1"/>
          <p:cNvSpPr/>
          <p:nvPr>
            <p:ph type="title"/>
          </p:nvPr>
        </p:nvSpPr>
        <p:spPr>
          <a:xfrm>
            <a:off x="812800" y="11785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02B"/>
                </a:solidFill>
                <a:latin typeface="IBM Plex Sans" pitchFamily="34" charset="0"/>
                <a:ea typeface="IBM Plex Sans" pitchFamily="34" charset="-122"/>
                <a:cs typeface="IBM Plex Sans" pitchFamily="34" charset="-120"/>
              </a:rPr>
              <a:t>Cómo Resilience4j mejora la resiliencia</a:t>
            </a:r>
            <a:endParaRPr lang="en-US" sz="3200" dirty="0"/>
          </a:p>
        </p:txBody>
      </p:sp>
      <p:sp>
        <p:nvSpPr>
          <p:cNvPr id="4" name="Shape 2"/>
          <p:cNvSpPr/>
          <p:nvPr/>
        </p:nvSpPr>
        <p:spPr>
          <a:xfrm>
            <a:off x="812800" y="1930400"/>
            <a:ext cx="3403600" cy="1506220"/>
          </a:xfrm>
          <a:prstGeom prst="roundRect">
            <a:avLst>
              <a:gd name="adj" fmla="val 5059"/>
            </a:avLst>
          </a:prstGeom>
          <a:solidFill>
            <a:srgbClr val="FFFFFF"/>
          </a:solidFill>
          <a:ln/>
        </p:spPr>
      </p:sp>
      <p:sp>
        <p:nvSpPr>
          <p:cNvPr id="5" name="Shape 3"/>
          <p:cNvSpPr/>
          <p:nvPr/>
        </p:nvSpPr>
        <p:spPr>
          <a:xfrm>
            <a:off x="812800" y="1930400"/>
            <a:ext cx="3403600" cy="1506220"/>
          </a:xfrm>
          <a:custGeom>
            <a:avLst/>
            <a:gdLst/>
            <a:ahLst/>
            <a:cxnLst/>
            <a:rect l="l" t="t" r="r" b="b"/>
            <a:pathLst>
              <a:path w="3403600" h="1506220">
                <a:moveTo>
                  <a:pt x="0" y="76200"/>
                </a:moveTo>
                <a:lnTo>
                  <a:pt x="0" y="76200"/>
                </a:lnTo>
                <a:arcTo hR="76200" wR="76200" stAng="10800000" swAng="5400000"/>
                <a:lnTo>
                  <a:pt x="3327400" y="0"/>
                </a:lnTo>
                <a:arcTo hR="76200" wR="76200" stAng="16200000" swAng="5400000"/>
                <a:lnTo>
                  <a:pt x="3403600" y="76200"/>
                </a:lnTo>
                <a:arcTo hR="38100" wR="76200" stAng="0" swAng="-5400000"/>
                <a:lnTo>
                  <a:pt x="76200" y="38100"/>
                </a:lnTo>
                <a:arcTo hR="38100" wR="76200" stAng="16200000" swAng="-5400000"/>
                <a:close/>
              </a:path>
            </a:pathLst>
          </a:custGeom>
          <a:solidFill>
            <a:srgbClr val="B5571B"/>
          </a:solidFill>
          <a:ln/>
        </p:spPr>
      </p:sp>
      <p:sp>
        <p:nvSpPr>
          <p:cNvPr id="6" name="Text 4"/>
          <p:cNvSpPr/>
          <p:nvPr/>
        </p:nvSpPr>
        <p:spPr>
          <a:xfrm>
            <a:off x="1041400" y="2194564"/>
            <a:ext cx="30347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B"/>
                </a:solidFill>
                <a:latin typeface="IBM Plex Sans" pitchFamily="34" charset="0"/>
                <a:ea typeface="IBM Plex Sans" pitchFamily="34" charset="-122"/>
                <a:cs typeface="IBM Plex Sans" pitchFamily="34" charset="-120"/>
              </a:rPr>
              <a:t>Aísla el fallo</a:t>
            </a:r>
            <a:endParaRPr lang="en-US" sz="1600" dirty="0"/>
          </a:p>
        </p:txBody>
      </p:sp>
      <p:sp>
        <p:nvSpPr>
          <p:cNvPr id="7" name="Text 5"/>
          <p:cNvSpPr/>
          <p:nvPr/>
        </p:nvSpPr>
        <p:spPr>
          <a:xfrm>
            <a:off x="1041400" y="2514600"/>
            <a:ext cx="30347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663"/>
                </a:solidFill>
                <a:latin typeface="IBM Plex Sans" pitchFamily="34" charset="0"/>
                <a:ea typeface="IBM Plex Sans" pitchFamily="34" charset="-122"/>
                <a:cs typeface="IBM Plex Sans" pitchFamily="34" charset="-120"/>
              </a:rPr>
              <a:t>La caída del servicio de cursos ya no se convierte en errores 500 del catálogo.</a:t>
            </a:r>
            <a:endParaRPr lang="en-US" sz="1300" dirty="0"/>
          </a:p>
        </p:txBody>
      </p:sp>
      <p:sp>
        <p:nvSpPr>
          <p:cNvPr id="8" name="Shape 6"/>
          <p:cNvSpPr/>
          <p:nvPr/>
        </p:nvSpPr>
        <p:spPr>
          <a:xfrm>
            <a:off x="4394200" y="1930400"/>
            <a:ext cx="3403600" cy="1506220"/>
          </a:xfrm>
          <a:prstGeom prst="roundRect">
            <a:avLst>
              <a:gd name="adj" fmla="val 5059"/>
            </a:avLst>
          </a:prstGeom>
          <a:solidFill>
            <a:srgbClr val="FFFFFF"/>
          </a:solidFill>
          <a:ln/>
        </p:spPr>
      </p:sp>
      <p:sp>
        <p:nvSpPr>
          <p:cNvPr id="9" name="Shape 7"/>
          <p:cNvSpPr/>
          <p:nvPr/>
        </p:nvSpPr>
        <p:spPr>
          <a:xfrm>
            <a:off x="4394200" y="1930400"/>
            <a:ext cx="3403600" cy="1506220"/>
          </a:xfrm>
          <a:custGeom>
            <a:avLst/>
            <a:gdLst/>
            <a:ahLst/>
            <a:cxnLst/>
            <a:rect l="l" t="t" r="r" b="b"/>
            <a:pathLst>
              <a:path w="3403600" h="1506220">
                <a:moveTo>
                  <a:pt x="0" y="76200"/>
                </a:moveTo>
                <a:lnTo>
                  <a:pt x="0" y="76200"/>
                </a:lnTo>
                <a:arcTo hR="76200" wR="76200" stAng="10800000" swAng="5400000"/>
                <a:lnTo>
                  <a:pt x="3327400" y="0"/>
                </a:lnTo>
                <a:arcTo hR="76200" wR="76200" stAng="16200000" swAng="5400000"/>
                <a:lnTo>
                  <a:pt x="3403600" y="76200"/>
                </a:lnTo>
                <a:arcTo hR="38100" wR="76200" stAng="0" swAng="-5400000"/>
                <a:lnTo>
                  <a:pt x="76200" y="38100"/>
                </a:lnTo>
                <a:arcTo hR="38100" wR="76200" stAng="16200000" swAng="-5400000"/>
                <a:close/>
              </a:path>
            </a:pathLst>
          </a:custGeom>
          <a:solidFill>
            <a:srgbClr val="B5571B"/>
          </a:solidFill>
          <a:ln/>
        </p:spPr>
      </p:sp>
      <p:sp>
        <p:nvSpPr>
          <p:cNvPr id="10" name="Text 8"/>
          <p:cNvSpPr/>
          <p:nvPr/>
        </p:nvSpPr>
        <p:spPr>
          <a:xfrm>
            <a:off x="4622800" y="2194564"/>
            <a:ext cx="30347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B"/>
                </a:solidFill>
                <a:latin typeface="IBM Plex Sans" pitchFamily="34" charset="0"/>
                <a:ea typeface="IBM Plex Sans" pitchFamily="34" charset="-122"/>
                <a:cs typeface="IBM Plex Sans" pitchFamily="34" charset="-120"/>
              </a:rPr>
              <a:t>Falla rápido</a:t>
            </a:r>
            <a:endParaRPr lang="en-US" sz="1600" dirty="0"/>
          </a:p>
        </p:txBody>
      </p:sp>
      <p:sp>
        <p:nvSpPr>
          <p:cNvPr id="11" name="Text 9"/>
          <p:cNvSpPr/>
          <p:nvPr/>
        </p:nvSpPr>
        <p:spPr>
          <a:xfrm>
            <a:off x="4622800" y="2514600"/>
            <a:ext cx="3034792"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663"/>
                </a:solidFill>
                <a:latin typeface="IBM Plex Sans" pitchFamily="34" charset="0"/>
                <a:ea typeface="IBM Plex Sans" pitchFamily="34" charset="-122"/>
                <a:cs typeface="IBM Plex Sans" pitchFamily="34" charset="-120"/>
              </a:rPr>
              <a:t>Con el circuito abierto no se espera a timeouts: no se bloquean hilos ni se saturan recursos.</a:t>
            </a:r>
            <a:endParaRPr lang="en-US" sz="1300" dirty="0"/>
          </a:p>
        </p:txBody>
      </p:sp>
      <p:sp>
        <p:nvSpPr>
          <p:cNvPr id="12" name="Shape 10"/>
          <p:cNvSpPr/>
          <p:nvPr/>
        </p:nvSpPr>
        <p:spPr>
          <a:xfrm>
            <a:off x="7975600" y="1930400"/>
            <a:ext cx="3403600" cy="1506220"/>
          </a:xfrm>
          <a:prstGeom prst="roundRect">
            <a:avLst>
              <a:gd name="adj" fmla="val 5059"/>
            </a:avLst>
          </a:prstGeom>
          <a:solidFill>
            <a:srgbClr val="FFFFFF"/>
          </a:solidFill>
          <a:ln/>
        </p:spPr>
      </p:sp>
      <p:sp>
        <p:nvSpPr>
          <p:cNvPr id="13" name="Shape 11"/>
          <p:cNvSpPr/>
          <p:nvPr/>
        </p:nvSpPr>
        <p:spPr>
          <a:xfrm>
            <a:off x="7975600" y="1930400"/>
            <a:ext cx="3403600" cy="1506220"/>
          </a:xfrm>
          <a:custGeom>
            <a:avLst/>
            <a:gdLst/>
            <a:ahLst/>
            <a:cxnLst/>
            <a:rect l="l" t="t" r="r" b="b"/>
            <a:pathLst>
              <a:path w="3403600" h="1506220">
                <a:moveTo>
                  <a:pt x="0" y="76200"/>
                </a:moveTo>
                <a:lnTo>
                  <a:pt x="0" y="76200"/>
                </a:lnTo>
                <a:arcTo hR="76200" wR="76200" stAng="10800000" swAng="5400000"/>
                <a:lnTo>
                  <a:pt x="3327400" y="0"/>
                </a:lnTo>
                <a:arcTo hR="76200" wR="76200" stAng="16200000" swAng="5400000"/>
                <a:lnTo>
                  <a:pt x="3403600" y="76200"/>
                </a:lnTo>
                <a:arcTo hR="38100" wR="76200" stAng="0" swAng="-5400000"/>
                <a:lnTo>
                  <a:pt x="76200" y="38100"/>
                </a:lnTo>
                <a:arcTo hR="38100" wR="76200" stAng="16200000" swAng="-5400000"/>
                <a:close/>
              </a:path>
            </a:pathLst>
          </a:custGeom>
          <a:solidFill>
            <a:srgbClr val="B5571B"/>
          </a:solidFill>
          <a:ln/>
        </p:spPr>
      </p:sp>
      <p:sp>
        <p:nvSpPr>
          <p:cNvPr id="14" name="Text 12"/>
          <p:cNvSpPr/>
          <p:nvPr/>
        </p:nvSpPr>
        <p:spPr>
          <a:xfrm>
            <a:off x="8204200" y="2194564"/>
            <a:ext cx="30347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B"/>
                </a:solidFill>
                <a:latin typeface="IBM Plex Sans" pitchFamily="34" charset="0"/>
                <a:ea typeface="IBM Plex Sans" pitchFamily="34" charset="-122"/>
                <a:cs typeface="IBM Plex Sans" pitchFamily="34" charset="-120"/>
              </a:rPr>
              <a:t>Da tiempo a recuperarse</a:t>
            </a:r>
            <a:endParaRPr lang="en-US" sz="1600" dirty="0"/>
          </a:p>
        </p:txBody>
      </p:sp>
      <p:sp>
        <p:nvSpPr>
          <p:cNvPr id="15" name="Text 13"/>
          <p:cNvSpPr/>
          <p:nvPr/>
        </p:nvSpPr>
        <p:spPr>
          <a:xfrm>
            <a:off x="8204200" y="2514600"/>
            <a:ext cx="3034792"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663"/>
                </a:solidFill>
                <a:latin typeface="IBM Plex Sans" pitchFamily="34" charset="0"/>
                <a:ea typeface="IBM Plex Sans" pitchFamily="34" charset="-122"/>
                <a:cs typeface="IBM Plex Sans" pitchFamily="34" charset="-120"/>
              </a:rPr>
              <a:t>Deja de enviar tráfico a un servicio caído y lo prueba con pocas llamadas antes de volver.</a:t>
            </a:r>
            <a:endParaRPr lang="en-US" sz="1300" dirty="0"/>
          </a:p>
        </p:txBody>
      </p:sp>
      <p:sp>
        <p:nvSpPr>
          <p:cNvPr id="16" name="Shape 14"/>
          <p:cNvSpPr/>
          <p:nvPr/>
        </p:nvSpPr>
        <p:spPr>
          <a:xfrm>
            <a:off x="812800" y="3614421"/>
            <a:ext cx="3403600" cy="1275080"/>
          </a:xfrm>
          <a:prstGeom prst="roundRect">
            <a:avLst>
              <a:gd name="adj" fmla="val 5976"/>
            </a:avLst>
          </a:prstGeom>
          <a:solidFill>
            <a:srgbClr val="FFFFFF"/>
          </a:solidFill>
          <a:ln/>
        </p:spPr>
      </p:sp>
      <p:sp>
        <p:nvSpPr>
          <p:cNvPr id="17" name="Shape 15"/>
          <p:cNvSpPr/>
          <p:nvPr/>
        </p:nvSpPr>
        <p:spPr>
          <a:xfrm>
            <a:off x="812800" y="3614421"/>
            <a:ext cx="3403600" cy="1275080"/>
          </a:xfrm>
          <a:custGeom>
            <a:avLst/>
            <a:gdLst/>
            <a:ahLst/>
            <a:cxnLst/>
            <a:rect l="l" t="t" r="r" b="b"/>
            <a:pathLst>
              <a:path w="3403600" h="1275080">
                <a:moveTo>
                  <a:pt x="0" y="76200"/>
                </a:moveTo>
                <a:lnTo>
                  <a:pt x="0" y="76200"/>
                </a:lnTo>
                <a:arcTo hR="76200" wR="76200" stAng="10800000" swAng="5400000"/>
                <a:lnTo>
                  <a:pt x="3327400" y="0"/>
                </a:lnTo>
                <a:arcTo hR="76200" wR="76200" stAng="16200000" swAng="5400000"/>
                <a:lnTo>
                  <a:pt x="3403600" y="76200"/>
                </a:lnTo>
                <a:arcTo hR="38100" wR="76200" stAng="0" swAng="-5400000"/>
                <a:lnTo>
                  <a:pt x="76200" y="38100"/>
                </a:lnTo>
                <a:arcTo hR="38100" wR="76200" stAng="16200000" swAng="-5400000"/>
                <a:close/>
              </a:path>
            </a:pathLst>
          </a:custGeom>
          <a:solidFill>
            <a:srgbClr val="2F6FB0"/>
          </a:solidFill>
          <a:ln/>
        </p:spPr>
      </p:sp>
      <p:sp>
        <p:nvSpPr>
          <p:cNvPr id="18" name="Text 16"/>
          <p:cNvSpPr/>
          <p:nvPr/>
        </p:nvSpPr>
        <p:spPr>
          <a:xfrm>
            <a:off x="1041400" y="3878579"/>
            <a:ext cx="30347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B"/>
                </a:solidFill>
                <a:latin typeface="IBM Plex Sans" pitchFamily="34" charset="0"/>
                <a:ea typeface="IBM Plex Sans" pitchFamily="34" charset="-122"/>
                <a:cs typeface="IBM Plex Sans" pitchFamily="34" charset="-120"/>
              </a:rPr>
              <a:t>Degrada con elegancia</a:t>
            </a:r>
            <a:endParaRPr lang="en-US" sz="1600" dirty="0"/>
          </a:p>
        </p:txBody>
      </p:sp>
      <p:sp>
        <p:nvSpPr>
          <p:cNvPr id="19" name="Text 17"/>
          <p:cNvSpPr/>
          <p:nvPr/>
        </p:nvSpPr>
        <p:spPr>
          <a:xfrm>
            <a:off x="1041400" y="4198621"/>
            <a:ext cx="30347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663"/>
                </a:solidFill>
                <a:latin typeface="IBM Plex Sans" pitchFamily="34" charset="0"/>
                <a:ea typeface="IBM Plex Sans" pitchFamily="34" charset="-122"/>
                <a:cs typeface="IBM Plex Sans" pitchFamily="34" charset="-120"/>
              </a:rPr>
              <a:t>El usuario recibe un mensaje claro en vez de una traza de error 500.</a:t>
            </a:r>
            <a:endParaRPr lang="en-US" sz="1300" dirty="0"/>
          </a:p>
        </p:txBody>
      </p:sp>
      <p:sp>
        <p:nvSpPr>
          <p:cNvPr id="20" name="Shape 18"/>
          <p:cNvSpPr/>
          <p:nvPr/>
        </p:nvSpPr>
        <p:spPr>
          <a:xfrm>
            <a:off x="4394200" y="3614421"/>
            <a:ext cx="3403600" cy="1275080"/>
          </a:xfrm>
          <a:prstGeom prst="roundRect">
            <a:avLst>
              <a:gd name="adj" fmla="val 5976"/>
            </a:avLst>
          </a:prstGeom>
          <a:solidFill>
            <a:srgbClr val="FFFFFF"/>
          </a:solidFill>
          <a:ln/>
        </p:spPr>
      </p:sp>
      <p:sp>
        <p:nvSpPr>
          <p:cNvPr id="21" name="Shape 19"/>
          <p:cNvSpPr/>
          <p:nvPr/>
        </p:nvSpPr>
        <p:spPr>
          <a:xfrm>
            <a:off x="4394200" y="3614421"/>
            <a:ext cx="3403600" cy="1275080"/>
          </a:xfrm>
          <a:custGeom>
            <a:avLst/>
            <a:gdLst/>
            <a:ahLst/>
            <a:cxnLst/>
            <a:rect l="l" t="t" r="r" b="b"/>
            <a:pathLst>
              <a:path w="3403600" h="1275080">
                <a:moveTo>
                  <a:pt x="0" y="76200"/>
                </a:moveTo>
                <a:lnTo>
                  <a:pt x="0" y="76200"/>
                </a:lnTo>
                <a:arcTo hR="76200" wR="76200" stAng="10800000" swAng="5400000"/>
                <a:lnTo>
                  <a:pt x="3327400" y="0"/>
                </a:lnTo>
                <a:arcTo hR="76200" wR="76200" stAng="16200000" swAng="5400000"/>
                <a:lnTo>
                  <a:pt x="3403600" y="76200"/>
                </a:lnTo>
                <a:arcTo hR="38100" wR="76200" stAng="0" swAng="-5400000"/>
                <a:lnTo>
                  <a:pt x="76200" y="38100"/>
                </a:lnTo>
                <a:arcTo hR="38100" wR="76200" stAng="16200000" swAng="-5400000"/>
                <a:close/>
              </a:path>
            </a:pathLst>
          </a:custGeom>
          <a:solidFill>
            <a:srgbClr val="2F6FB0"/>
          </a:solidFill>
          <a:ln/>
        </p:spPr>
      </p:sp>
      <p:sp>
        <p:nvSpPr>
          <p:cNvPr id="22" name="Text 20"/>
          <p:cNvSpPr/>
          <p:nvPr/>
        </p:nvSpPr>
        <p:spPr>
          <a:xfrm>
            <a:off x="4622800" y="3878579"/>
            <a:ext cx="30347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B"/>
                </a:solidFill>
                <a:latin typeface="IBM Plex Sans" pitchFamily="34" charset="0"/>
                <a:ea typeface="IBM Plex Sans" pitchFamily="34" charset="-122"/>
                <a:cs typeface="IBM Plex Sans" pitchFamily="34" charset="-120"/>
              </a:rPr>
              <a:t>Se recupera solo</a:t>
            </a:r>
            <a:endParaRPr lang="en-US" sz="1600" dirty="0"/>
          </a:p>
        </p:txBody>
      </p:sp>
      <p:sp>
        <p:nvSpPr>
          <p:cNvPr id="23" name="Text 21"/>
          <p:cNvSpPr/>
          <p:nvPr/>
        </p:nvSpPr>
        <p:spPr>
          <a:xfrm>
            <a:off x="4622800" y="4198621"/>
            <a:ext cx="30347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663"/>
                </a:solidFill>
                <a:latin typeface="IBM Plex Sans" pitchFamily="34" charset="0"/>
                <a:ea typeface="IBM Plex Sans" pitchFamily="34" charset="-122"/>
                <a:cs typeface="IBM Plex Sans" pitchFamily="34" charset="-120"/>
              </a:rPr>
              <a:t>HALF_OPEN detecta el regreso del servicio sin reiniciar el catálogo.</a:t>
            </a:r>
            <a:endParaRPr lang="en-US" sz="1300" dirty="0"/>
          </a:p>
        </p:txBody>
      </p:sp>
      <p:sp>
        <p:nvSpPr>
          <p:cNvPr id="24" name="Shape 22"/>
          <p:cNvSpPr/>
          <p:nvPr/>
        </p:nvSpPr>
        <p:spPr>
          <a:xfrm>
            <a:off x="7975600" y="3614421"/>
            <a:ext cx="3403600" cy="1275080"/>
          </a:xfrm>
          <a:prstGeom prst="roundRect">
            <a:avLst>
              <a:gd name="adj" fmla="val 5976"/>
            </a:avLst>
          </a:prstGeom>
          <a:solidFill>
            <a:srgbClr val="FFFFFF"/>
          </a:solidFill>
          <a:ln/>
        </p:spPr>
      </p:sp>
      <p:sp>
        <p:nvSpPr>
          <p:cNvPr id="25" name="Shape 23"/>
          <p:cNvSpPr/>
          <p:nvPr/>
        </p:nvSpPr>
        <p:spPr>
          <a:xfrm>
            <a:off x="7975600" y="3614421"/>
            <a:ext cx="3403600" cy="1275080"/>
          </a:xfrm>
          <a:custGeom>
            <a:avLst/>
            <a:gdLst/>
            <a:ahLst/>
            <a:cxnLst/>
            <a:rect l="l" t="t" r="r" b="b"/>
            <a:pathLst>
              <a:path w="3403600" h="1275080">
                <a:moveTo>
                  <a:pt x="0" y="76200"/>
                </a:moveTo>
                <a:lnTo>
                  <a:pt x="0" y="76200"/>
                </a:lnTo>
                <a:arcTo hR="76200" wR="76200" stAng="10800000" swAng="5400000"/>
                <a:lnTo>
                  <a:pt x="3327400" y="0"/>
                </a:lnTo>
                <a:arcTo hR="76200" wR="76200" stAng="16200000" swAng="5400000"/>
                <a:lnTo>
                  <a:pt x="3403600" y="76200"/>
                </a:lnTo>
                <a:arcTo hR="38100" wR="76200" stAng="0" swAng="-5400000"/>
                <a:lnTo>
                  <a:pt x="76200" y="38100"/>
                </a:lnTo>
                <a:arcTo hR="38100" wR="76200" stAng="16200000" swAng="-5400000"/>
                <a:close/>
              </a:path>
            </a:pathLst>
          </a:custGeom>
          <a:solidFill>
            <a:srgbClr val="2F6FB0"/>
          </a:solidFill>
          <a:ln/>
        </p:spPr>
      </p:sp>
      <p:sp>
        <p:nvSpPr>
          <p:cNvPr id="26" name="Text 24"/>
          <p:cNvSpPr/>
          <p:nvPr/>
        </p:nvSpPr>
        <p:spPr>
          <a:xfrm>
            <a:off x="8204200" y="3878579"/>
            <a:ext cx="30347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B"/>
                </a:solidFill>
                <a:latin typeface="IBM Plex Sans" pitchFamily="34" charset="0"/>
                <a:ea typeface="IBM Plex Sans" pitchFamily="34" charset="-122"/>
                <a:cs typeface="IBM Plex Sans" pitchFamily="34" charset="-120"/>
              </a:rPr>
              <a:t>Es observable</a:t>
            </a:r>
            <a:endParaRPr lang="en-US" sz="1600" dirty="0"/>
          </a:p>
        </p:txBody>
      </p:sp>
      <p:sp>
        <p:nvSpPr>
          <p:cNvPr id="27" name="Text 25"/>
          <p:cNvSpPr/>
          <p:nvPr/>
        </p:nvSpPr>
        <p:spPr>
          <a:xfrm>
            <a:off x="8204200" y="4198621"/>
            <a:ext cx="30347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663"/>
                </a:solidFill>
                <a:latin typeface="IBM Plex Sans" pitchFamily="34" charset="0"/>
                <a:ea typeface="IBM Plex Sans" pitchFamily="34" charset="-122"/>
                <a:cs typeface="IBM Plex Sans" pitchFamily="34" charset="-120"/>
              </a:rPr>
              <a:t>Estado, tasa de fallos y llamadas visibles en /actuator/health.</a:t>
            </a:r>
            <a:endParaRPr lang="en-US" sz="1300" dirty="0"/>
          </a:p>
        </p:txBody>
      </p:sp>
    </p:spTree>
  </p:cSld>
  <p:clrMapOvr>
    <a:masterClrMapping/>
  </p:clrMapOvr>
</p:sld>
</file>

<file path=ppt/theme/theme1.xml><?xml version="1.0" encoding="utf-8"?>
<a:theme xmlns:a="http://schemas.openxmlformats.org/drawingml/2006/main" name="Service Discovery y Circuit Breaker en Microservicios">
  <a:themeElements>
    <a:clrScheme name="Service Discovery y Circuit Breaker en Microservicios">
      <a:dk1>
        <a:srgbClr val="13202B"/>
      </a:dk1>
      <a:lt1>
        <a:srgbClr val="F4F2EC"/>
      </a:lt1>
      <a:dk2>
        <a:srgbClr val="4B555B"/>
      </a:dk2>
      <a:lt2>
        <a:srgbClr val="DEDDD9"/>
      </a:lt2>
      <a:accent1>
        <a:srgbClr val="B5571B"/>
      </a:accent1>
      <a:accent2>
        <a:srgbClr val="2F6FB0"/>
      </a:accent2>
      <a:accent3>
        <a:srgbClr val="F0A35E"/>
      </a:accent3>
      <a:accent4>
        <a:srgbClr val="FBE3CF"/>
      </a:accent4>
      <a:accent5>
        <a:srgbClr val="4A5663"/>
      </a:accent5>
      <a:accent6>
        <a:srgbClr val="B9C4CE"/>
      </a:accent6>
      <a:hlink>
        <a:srgbClr val="0563C1"/>
      </a:hlink>
      <a:folHlink>
        <a:srgbClr val="954F72"/>
      </a:folHlink>
    </a:clrScheme>
    <a:fontScheme name="Service Discovery y Circuit Breaker en Microservicio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Service Discovery y Circuit Breaker en Microservicios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2026-10-27T01:35:38Z</dcterms:created>
  <dcterms:modified xsi:type="dcterms:W3CDTF">2026-10-27T01:35:38Z</dcterms:modified>
</cp:coreProperties>
</file>